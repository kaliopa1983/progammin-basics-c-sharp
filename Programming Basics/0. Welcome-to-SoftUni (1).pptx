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2"/>
    <p:sldMasterId id="2147483679" r:id="rId3"/>
    <p:sldMasterId id="2147483684" r:id="rId4"/>
  </p:sldMasterIdLst>
  <p:notesMasterIdLst>
    <p:notesMasterId r:id="rId16"/>
  </p:notesMasterIdLst>
  <p:handoutMasterIdLst>
    <p:handoutMasterId r:id="rId17"/>
  </p:handoutMasterIdLst>
  <p:sldIdLst>
    <p:sldId id="394" r:id="rId5"/>
    <p:sldId id="450" r:id="rId6"/>
    <p:sldId id="437" r:id="rId7"/>
    <p:sldId id="446" r:id="rId8"/>
    <p:sldId id="451" r:id="rId9"/>
    <p:sldId id="447" r:id="rId10"/>
    <p:sldId id="448" r:id="rId11"/>
    <p:sldId id="439" r:id="rId12"/>
    <p:sldId id="444" r:id="rId13"/>
    <p:sldId id="443" r:id="rId14"/>
    <p:sldId id="445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A60"/>
    <a:srgbClr val="0051A2"/>
    <a:srgbClr val="003A74"/>
    <a:srgbClr val="603A14"/>
    <a:srgbClr val="E85C0E"/>
    <a:srgbClr val="BAB398"/>
    <a:srgbClr val="ADA485"/>
    <a:srgbClr val="C6C0AA"/>
    <a:srgbClr val="663606"/>
    <a:srgbClr val="66310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4" autoAdjust="0"/>
    <p:restoredTop sz="94595" autoAdjust="0"/>
  </p:normalViewPr>
  <p:slideViewPr>
    <p:cSldViewPr>
      <p:cViewPr varScale="1">
        <p:scale>
          <a:sx n="43" d="100"/>
          <a:sy n="43" d="100"/>
        </p:scale>
        <p:origin x="-68" y="-32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4/21/2016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4/21/2016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 smtClean="0"/>
              <a:t>© Software University Foundation – </a:t>
            </a:r>
            <a:r>
              <a:rPr lang="en-US" sz="1000" u="sng" dirty="0" smtClean="0">
                <a:hlinkClick r:id="rId2"/>
              </a:rPr>
              <a:t>http://softuni.org</a:t>
            </a:r>
            <a:endParaRPr lang="en-US" sz="1000" dirty="0" smtClean="0"/>
          </a:p>
          <a:p>
            <a:r>
              <a:rPr lang="en-US" sz="1000" dirty="0" smtClean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14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540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28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smtClean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smtClean="0">
              <a:solidFill>
                <a:prstClr val="black"/>
              </a:solidFill>
            </a:endParaRPr>
          </a:p>
          <a:p>
            <a:r>
              <a:rPr lang="en-US" sz="1000" smtClean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 smtClean="0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 smtClean="0">
                <a:solidFill>
                  <a:prstClr val="black"/>
                </a:solidFill>
              </a:rPr>
              <a:t> </a:t>
            </a:r>
            <a:r>
              <a:rPr lang="en-US" sz="1000" smtClean="0">
                <a:solidFill>
                  <a:prstClr val="black"/>
                </a:solidFill>
              </a:rPr>
              <a:t>license.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277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05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5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4/21/2016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 descr="D:\_WORK PROJECTS\Nakov\Presentation Slides Design\STORE\Software University Foundation Logo BG and ENG black WHITOUT background CMYK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322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 descr="D:\_WORK PROJECTS\Nakov\Presentation Slides Design\STORE\Software University Foundation Logo BG and ENG black WHITOUT background CMYK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892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92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603A14"/>
                </a:solidFill>
              </a:rPr>
              <a:t>?</a:t>
            </a:r>
            <a:endParaRPr lang="en-US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20967714">
            <a:off x="457076" y="2405125"/>
            <a:ext cx="2338944" cy="239550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bg-BG" sz="6600" b="1" dirty="0" smtClean="0">
                <a:solidFill>
                  <a:srgbClr val="F3BE60"/>
                </a:solidFill>
              </a:rPr>
              <a:t>Въпроси</a:t>
            </a:r>
            <a:r>
              <a:rPr lang="en-US" sz="6600" b="1" dirty="0" smtClean="0">
                <a:solidFill>
                  <a:srgbClr val="F3BE60"/>
                </a:solidFill>
              </a:rPr>
              <a:t>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206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  <p:extLst>
      <p:ext uri="{BB962C8B-B14F-4D97-AF65-F5344CB8AC3E}">
        <p14:creationId xmlns:p14="http://schemas.microsoft.com/office/powerpoint/2010/main" val="384766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4/21/2016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  <p:pic>
        <p:nvPicPr>
          <p:cNvPr id="1026" name="Picture 2" descr="D:\_WORK PROJECTS\Nakov\Presentation Slides Design\STORE\Software University Foundation Logo BG and ENG black WHITOUT background CMYK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767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 Subtitle</a:t>
            </a:r>
          </a:p>
        </p:txBody>
      </p:sp>
      <p:pic>
        <p:nvPicPr>
          <p:cNvPr id="9" name="Picture 2" descr="D:\_WORK PROJECTS\Nakov\Presentation Slides Design\STORE\Software University Foundation Logo BG and ENG black WHITOUT background CMYK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0620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28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42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4/21/2016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 descr="D:\_WORK PROJECTS\Nakov\Presentation Slides Design\STORE\Software University Foundation Logo BG and ENG black WHITOUT background CMYK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005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 descr="D:\_WORK PROJECTS\Nakov\Presentation Slides Design\STORE\Software University Foundation Logo BG and ENG black WHITOUT background CMYK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203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42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603A14"/>
                </a:solidFill>
              </a:rPr>
              <a:t>?</a:t>
            </a:r>
            <a:endParaRPr lang="en-US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20967714">
            <a:off x="457076" y="2405125"/>
            <a:ext cx="2338944" cy="239550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en-US" sz="6600" b="1" dirty="0" smtClean="0">
                <a:solidFill>
                  <a:srgbClr val="F3BE60"/>
                </a:solidFill>
              </a:rPr>
              <a:t>Questions?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80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4/21/2016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2472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4/21/2016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7446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4/21/2016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4124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softuni.bg/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creativecommons.org/licenses/by-nc-sa/4.0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hyperlink" Target="http://www.indeavr.com/" TargetMode="External"/><Relationship Id="rId18" Type="http://schemas.openxmlformats.org/officeDocument/2006/relationships/image" Target="../media/image19.png"/><Relationship Id="rId3" Type="http://schemas.openxmlformats.org/officeDocument/2006/relationships/hyperlink" Target="http://xs-software.com/" TargetMode="External"/><Relationship Id="rId7" Type="http://schemas.openxmlformats.org/officeDocument/2006/relationships/hyperlink" Target="http://smartit.bg/" TargetMode="External"/><Relationship Id="rId12" Type="http://schemas.openxmlformats.org/officeDocument/2006/relationships/image" Target="../media/image16.png"/><Relationship Id="rId17" Type="http://schemas.openxmlformats.org/officeDocument/2006/relationships/hyperlink" Target="http://netpeak.bg/" TargetMode="Externa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11" Type="http://schemas.openxmlformats.org/officeDocument/2006/relationships/hyperlink" Target="http://www.luxoft.com/" TargetMode="External"/><Relationship Id="rId5" Type="http://schemas.openxmlformats.org/officeDocument/2006/relationships/hyperlink" Target="http://komfo.com/" TargetMode="External"/><Relationship Id="rId15" Type="http://schemas.openxmlformats.org/officeDocument/2006/relationships/hyperlink" Target="http://www.infragistics.com/" TargetMode="External"/><Relationship Id="rId10" Type="http://schemas.openxmlformats.org/officeDocument/2006/relationships/image" Target="../media/image15.png"/><Relationship Id="rId19" Type="http://schemas.openxmlformats.org/officeDocument/2006/relationships/hyperlink" Target="http://www.superhosting.bg/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://www.softwaregroup-bg.com/" TargetMode="External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softuni.b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bg/university-partner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bg/compani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komfo.com/" TargetMode="External"/><Relationship Id="rId13" Type="http://schemas.openxmlformats.org/officeDocument/2006/relationships/image" Target="../media/image15.png"/><Relationship Id="rId18" Type="http://schemas.openxmlformats.org/officeDocument/2006/relationships/hyperlink" Target="http://netpeak.bg/" TargetMode="External"/><Relationship Id="rId3" Type="http://schemas.openxmlformats.org/officeDocument/2006/relationships/hyperlink" Target="https://softuni.bg/" TargetMode="External"/><Relationship Id="rId21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hyperlink" Target="http://www.softwaregroup-bg.com/" TargetMode="External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hyperlink" Target="http://www.infragistics.com/" TargetMode="External"/><Relationship Id="rId20" Type="http://schemas.openxmlformats.org/officeDocument/2006/relationships/hyperlink" Target="http://www.superhosting.bg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xs-software.com/" TargetMode="External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17.png"/><Relationship Id="rId10" Type="http://schemas.openxmlformats.org/officeDocument/2006/relationships/hyperlink" Target="http://smartit.bg/" TargetMode="External"/><Relationship Id="rId19" Type="http://schemas.openxmlformats.org/officeDocument/2006/relationships/image" Target="../media/image19.png"/><Relationship Id="rId4" Type="http://schemas.openxmlformats.org/officeDocument/2006/relationships/hyperlink" Target="http://www.luxoft.com/" TargetMode="External"/><Relationship Id="rId9" Type="http://schemas.openxmlformats.org/officeDocument/2006/relationships/image" Target="../media/image13.png"/><Relationship Id="rId14" Type="http://schemas.openxmlformats.org/officeDocument/2006/relationships/hyperlink" Target="http://www.indeavr.com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4.png"/><Relationship Id="rId3" Type="http://schemas.openxmlformats.org/officeDocument/2006/relationships/hyperlink" Target="http://softuni.org/" TargetMode="External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s://softuni.bg/forum" TargetMode="Externa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youtube.com/SoftwareUniversity" TargetMode="External"/><Relationship Id="rId11" Type="http://schemas.openxmlformats.org/officeDocument/2006/relationships/image" Target="../media/image23.png"/><Relationship Id="rId5" Type="http://schemas.openxmlformats.org/officeDocument/2006/relationships/hyperlink" Target="https://www.facebook.com/SoftwareUniversity" TargetMode="External"/><Relationship Id="rId1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://www.facebook.com/SoftwareUniversity" TargetMode="External"/><Relationship Id="rId1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503612" y="609600"/>
            <a:ext cx="7839541" cy="1171552"/>
          </a:xfrm>
        </p:spPr>
        <p:txBody>
          <a:bodyPr/>
          <a:lstStyle/>
          <a:p>
            <a:r>
              <a:rPr lang="bg-BG" dirty="0" smtClean="0"/>
              <a:t>Софтуерен университет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03612" y="1889099"/>
            <a:ext cx="7839541" cy="1311301"/>
          </a:xfrm>
        </p:spPr>
        <p:txBody>
          <a:bodyPr>
            <a:noAutofit/>
          </a:bodyPr>
          <a:lstStyle/>
          <a:p>
            <a:r>
              <a:rPr lang="bg-BG" sz="3400" b="1" dirty="0"/>
              <a:t>Качествено образование, </a:t>
            </a:r>
            <a:r>
              <a:rPr lang="bg-BG" sz="3400" b="1" dirty="0" smtClean="0"/>
              <a:t>професия и </a:t>
            </a:r>
            <a:r>
              <a:rPr lang="bg-BG" sz="3400" b="1" dirty="0"/>
              <a:t>работа за хиляди млади </a:t>
            </a:r>
            <a:r>
              <a:rPr lang="bg-BG" sz="3400" b="1" dirty="0" smtClean="0"/>
              <a:t>хора</a:t>
            </a:r>
            <a:endParaRPr lang="bg-BG" sz="3400" b="1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60412" y="4547747"/>
            <a:ext cx="3187613" cy="525135"/>
          </a:xfrm>
        </p:spPr>
        <p:txBody>
          <a:bodyPr/>
          <a:lstStyle/>
          <a:p>
            <a:r>
              <a:rPr lang="bg-BG" noProof="1" smtClean="0"/>
              <a:t>Светлин Наков</a:t>
            </a:r>
            <a:endParaRPr lang="en-US" noProof="1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60413" y="5017646"/>
            <a:ext cx="3187614" cy="444343"/>
          </a:xfrm>
        </p:spPr>
        <p:txBody>
          <a:bodyPr/>
          <a:lstStyle/>
          <a:p>
            <a:r>
              <a:rPr lang="bg-BG" dirty="0" smtClean="0"/>
              <a:t>Вдъхновител на проекта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0412" y="5451349"/>
            <a:ext cx="3187613" cy="382788"/>
          </a:xfrm>
        </p:spPr>
        <p:txBody>
          <a:bodyPr/>
          <a:lstStyle/>
          <a:p>
            <a:r>
              <a:rPr lang="bg-BG" sz="2000" dirty="0" smtClean="0"/>
              <a:t>Софтуерен университет</a:t>
            </a:r>
            <a:endParaRPr lang="en-US" sz="2000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60412" y="5820446"/>
            <a:ext cx="3187613" cy="351754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softuni.bg</a:t>
            </a:r>
            <a:endParaRPr lang="en-US" sz="1800" dirty="0"/>
          </a:p>
        </p:txBody>
      </p:sp>
      <p:pic>
        <p:nvPicPr>
          <p:cNvPr id="1028" name="Picture 4">
            <a:hlinkClick r:id="rId4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83" y="2972635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pic>
        <p:nvPicPr>
          <p:cNvPr id="13" name="Picture 2" descr="D:\_WORK PROJECTS\Nakov\Presentation Slides Design\STORE\Software University Foundation Logo BG and ENG black WHITOUT background CMYK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3" t="-12099" r="-4044"/>
          <a:stretch/>
        </p:blipFill>
        <p:spPr bwMode="auto">
          <a:xfrm>
            <a:off x="825157" y="1752600"/>
            <a:ext cx="2172351" cy="79569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676" y="3551711"/>
            <a:ext cx="2362192" cy="25923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293" y="3581401"/>
            <a:ext cx="4198719" cy="2514600"/>
          </a:xfrm>
          <a:prstGeom prst="rect">
            <a:avLst/>
          </a:prstGeom>
          <a:ln>
            <a:solidFill>
              <a:schemeClr val="tx1">
                <a:lumMod val="50000"/>
                <a:alpha val="7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1407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Диамантени партньори на СофтУни</a:t>
            </a:r>
          </a:p>
        </p:txBody>
      </p:sp>
      <p:pic>
        <p:nvPicPr>
          <p:cNvPr id="3" name="Picture 2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66" y="1559038"/>
            <a:ext cx="2382811" cy="1093411"/>
          </a:xfrm>
          <a:prstGeom prst="roundRect">
            <a:avLst>
              <a:gd name="adj" fmla="val 2684"/>
            </a:avLst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66" y="3278535"/>
            <a:ext cx="2968620" cy="1169456"/>
          </a:xfrm>
          <a:prstGeom prst="roundRect">
            <a:avLst>
              <a:gd name="adj" fmla="val 2684"/>
            </a:avLst>
          </a:prstGeom>
        </p:spPr>
      </p:pic>
      <p:pic>
        <p:nvPicPr>
          <p:cNvPr id="6" name="Picture 5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4010" y="3284548"/>
            <a:ext cx="3029929" cy="1163442"/>
          </a:xfrm>
          <a:prstGeom prst="roundRect">
            <a:avLst>
              <a:gd name="adj" fmla="val 2684"/>
            </a:avLst>
          </a:prstGeom>
        </p:spPr>
      </p:pic>
      <p:pic>
        <p:nvPicPr>
          <p:cNvPr id="7" name="Picture 6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463" y="3284548"/>
            <a:ext cx="4591551" cy="1163442"/>
          </a:xfrm>
          <a:prstGeom prst="roundRect">
            <a:avLst>
              <a:gd name="adj" fmla="val 2684"/>
            </a:avLst>
          </a:prstGeom>
        </p:spPr>
      </p:pic>
      <p:pic>
        <p:nvPicPr>
          <p:cNvPr id="8" name="Picture 7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9875" y="4979145"/>
            <a:ext cx="1932362" cy="1044328"/>
          </a:xfrm>
          <a:prstGeom prst="roundRect">
            <a:avLst>
              <a:gd name="adj" fmla="val 2684"/>
            </a:avLst>
          </a:prstGeom>
        </p:spPr>
      </p:pic>
      <p:pic>
        <p:nvPicPr>
          <p:cNvPr id="12" name="Picture 11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2040" y="1559037"/>
            <a:ext cx="3543973" cy="1093411"/>
          </a:xfrm>
          <a:prstGeom prst="roundRect">
            <a:avLst>
              <a:gd name="adj" fmla="val 2684"/>
            </a:avLst>
          </a:prstGeom>
        </p:spPr>
      </p:pic>
      <p:pic>
        <p:nvPicPr>
          <p:cNvPr id="13" name="Picture 12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3022" y="5056888"/>
            <a:ext cx="4261388" cy="888842"/>
          </a:xfrm>
          <a:prstGeom prst="roundRect">
            <a:avLst>
              <a:gd name="adj" fmla="val 3159"/>
            </a:avLst>
          </a:prstGeom>
        </p:spPr>
      </p:pic>
      <p:pic>
        <p:nvPicPr>
          <p:cNvPr id="14" name="Picture 13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12006" y="1608851"/>
            <a:ext cx="4621386" cy="996769"/>
          </a:xfrm>
          <a:prstGeom prst="roundRect">
            <a:avLst>
              <a:gd name="adj" fmla="val 3159"/>
            </a:avLst>
          </a:prstGeom>
        </p:spPr>
      </p:pic>
      <p:pic>
        <p:nvPicPr>
          <p:cNvPr id="15" name="Picture 14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866" y="5293579"/>
            <a:ext cx="4524224" cy="415460"/>
          </a:xfrm>
          <a:prstGeom prst="roundRect">
            <a:avLst>
              <a:gd name="adj" fmla="val 6598"/>
            </a:avLst>
          </a:prstGeom>
        </p:spPr>
      </p:pic>
    </p:spTree>
    <p:extLst>
      <p:ext uri="{BB962C8B-B14F-4D97-AF65-F5344CB8AC3E}">
        <p14:creationId xmlns:p14="http://schemas.microsoft.com/office/powerpoint/2010/main" val="216696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bg-BG" dirty="0" smtClean="0"/>
              <a:t>Софтуерен университет (</a:t>
            </a:r>
            <a:r>
              <a:rPr lang="bg-BG" noProof="1" smtClean="0"/>
              <a:t>СофтУни</a:t>
            </a:r>
            <a:r>
              <a:rPr lang="en-US" dirty="0" smtClean="0"/>
              <a:t>)</a:t>
            </a:r>
          </a:p>
          <a:p>
            <a:pPr lvl="1">
              <a:lnSpc>
                <a:spcPct val="110000"/>
              </a:lnSpc>
            </a:pPr>
            <a:r>
              <a:rPr lang="bg-BG" dirty="0" smtClean="0"/>
              <a:t>Качествено</a:t>
            </a:r>
            <a:r>
              <a:rPr lang="en-US" dirty="0" smtClean="0"/>
              <a:t>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образование</a:t>
            </a:r>
            <a:r>
              <a:rPr lang="en-US" dirty="0" smtClean="0"/>
              <a:t>,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професия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 smtClean="0"/>
              <a:t>и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работа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 smtClean="0"/>
              <a:t>за софтуерни инженери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smtClean="0"/>
              <a:t>20+ </a:t>
            </a:r>
            <a:r>
              <a:rPr lang="bg-BG" dirty="0" smtClean="0"/>
              <a:t>практически курса</a:t>
            </a:r>
            <a:r>
              <a:rPr lang="en-US" dirty="0" smtClean="0"/>
              <a:t>, 20+ </a:t>
            </a:r>
            <a:r>
              <a:rPr lang="bg-BG" dirty="0" smtClean="0"/>
              <a:t>изпита</a:t>
            </a:r>
            <a:r>
              <a:rPr lang="en-US" dirty="0" smtClean="0"/>
              <a:t>, 15+ </a:t>
            </a:r>
            <a:r>
              <a:rPr lang="bg-BG" dirty="0" smtClean="0"/>
              <a:t>проекта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~ 2 </a:t>
            </a:r>
            <a:r>
              <a:rPr lang="bg-BG" dirty="0" smtClean="0">
                <a:sym typeface="Wingdings" panose="05000000000000000000" pitchFamily="2" charset="2"/>
              </a:rPr>
              <a:t>години</a:t>
            </a:r>
            <a:endParaRPr lang="en-US" dirty="0" smtClean="0"/>
          </a:p>
          <a:p>
            <a:pPr lvl="1">
              <a:lnSpc>
                <a:spcPct val="110000"/>
              </a:lnSpc>
            </a:pPr>
            <a:r>
              <a:rPr lang="bg-BG" dirty="0" smtClean="0"/>
              <a:t>Бакалавърска</a:t>
            </a:r>
            <a:r>
              <a:rPr lang="en-US" dirty="0" smtClean="0"/>
              <a:t>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диплома</a:t>
            </a:r>
            <a:r>
              <a:rPr lang="en-US" dirty="0" smtClean="0"/>
              <a:t>:</a:t>
            </a:r>
            <a:r>
              <a:rPr lang="bg-BG" dirty="0" smtClean="0"/>
              <a:t> </a:t>
            </a:r>
            <a:r>
              <a:rPr lang="en-US" dirty="0" smtClean="0"/>
              <a:t>2 </a:t>
            </a:r>
            <a:r>
              <a:rPr lang="bg-BG" dirty="0" smtClean="0"/>
              <a:t>години</a:t>
            </a:r>
            <a:r>
              <a:rPr lang="en-US" dirty="0" smtClean="0"/>
              <a:t> </a:t>
            </a:r>
            <a:r>
              <a:rPr lang="en-US" dirty="0"/>
              <a:t>@ </a:t>
            </a:r>
            <a:r>
              <a:rPr lang="bg-BG" noProof="1" smtClean="0"/>
              <a:t>СофтУни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+ 1-2 </a:t>
            </a:r>
            <a:r>
              <a:rPr lang="bg-BG" dirty="0" smtClean="0"/>
              <a:t>годин</a:t>
            </a:r>
            <a:r>
              <a:rPr lang="bg-BG" dirty="0"/>
              <a:t>и</a:t>
            </a:r>
            <a:r>
              <a:rPr lang="bg-BG" dirty="0" smtClean="0"/>
              <a:t> в университет-партньор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Присъствено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онлайн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 smtClean="0"/>
              <a:t>обучение</a:t>
            </a:r>
            <a:endParaRPr lang="en-US" dirty="0" smtClean="0"/>
          </a:p>
          <a:p>
            <a:pPr lvl="1">
              <a:lnSpc>
                <a:spcPct val="110000"/>
              </a:lnSpc>
            </a:pPr>
            <a:r>
              <a:rPr lang="bg-BG" dirty="0" smtClean="0"/>
              <a:t>Работа в България и чужбина</a:t>
            </a:r>
          </a:p>
          <a:p>
            <a:pPr lvl="1">
              <a:lnSpc>
                <a:spcPct val="110000"/>
              </a:lnSpc>
            </a:pP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Безплатен старт</a:t>
            </a:r>
            <a:r>
              <a:rPr lang="en-US" dirty="0" smtClean="0"/>
              <a:t> </a:t>
            </a:r>
            <a:r>
              <a:rPr lang="bg-BG" dirty="0" smtClean="0"/>
              <a:t>– всеки месец нов курс</a:t>
            </a:r>
            <a:endParaRPr lang="en-US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Добре дошли в</a:t>
            </a:r>
            <a:r>
              <a:rPr lang="en-US" dirty="0" smtClean="0"/>
              <a:t> </a:t>
            </a:r>
            <a:r>
              <a:rPr lang="bg-BG" noProof="1" smtClean="0"/>
              <a:t>СофтУни</a:t>
            </a:r>
            <a:endParaRPr lang="en-US" noProof="1"/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82163" y="4392283"/>
            <a:ext cx="2722449" cy="1903741"/>
          </a:xfrm>
          <a:prstGeom prst="rect">
            <a:avLst/>
          </a:prstGeom>
          <a:ln>
            <a:solidFill>
              <a:schemeClr val="tx1">
                <a:lumMod val="50000"/>
                <a:alpha val="7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3638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1" y="2079248"/>
            <a:ext cx="81518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600" dirty="0">
                <a:solidFill>
                  <a:prstClr val="white"/>
                </a:solidFill>
              </a:rPr>
              <a:t>П</a:t>
            </a:r>
            <a:r>
              <a:rPr lang="bg-BG" sz="2600" dirty="0" smtClean="0">
                <a:solidFill>
                  <a:prstClr val="white"/>
                </a:solidFill>
              </a:rPr>
              <a:t>рием в СофтУни – минимум 50% на изпит</a:t>
            </a:r>
            <a:endParaRPr lang="en-US" sz="2600" dirty="0" smtClean="0">
              <a:solidFill>
                <a:prstClr val="white"/>
              </a:solidFill>
            </a:endParaRPr>
          </a:p>
          <a:p>
            <a:r>
              <a:rPr lang="bg-BG" sz="2600" dirty="0" smtClean="0">
                <a:solidFill>
                  <a:prstClr val="white"/>
                </a:solidFill>
              </a:rPr>
              <a:t>Кандитатстване </a:t>
            </a:r>
            <a:r>
              <a:rPr lang="bg-BG" sz="2600" dirty="0">
                <a:solidFill>
                  <a:prstClr val="white"/>
                </a:solidFill>
              </a:rPr>
              <a:t>за стипендия </a:t>
            </a:r>
            <a:r>
              <a:rPr lang="bg-BG" sz="2600" dirty="0" smtClean="0">
                <a:solidFill>
                  <a:prstClr val="white"/>
                </a:solidFill>
              </a:rPr>
              <a:t>– </a:t>
            </a:r>
            <a:r>
              <a:rPr lang="bg-BG" sz="2600" dirty="0" smtClean="0">
                <a:solidFill>
                  <a:prstClr val="white"/>
                </a:solidFill>
              </a:rPr>
              <a:t>минимум </a:t>
            </a:r>
            <a:r>
              <a:rPr lang="bg-BG" sz="2600" dirty="0" smtClean="0">
                <a:solidFill>
                  <a:prstClr val="white"/>
                </a:solidFill>
              </a:rPr>
              <a:t>97</a:t>
            </a:r>
            <a:r>
              <a:rPr lang="bg-BG" sz="2600" dirty="0">
                <a:solidFill>
                  <a:prstClr val="white"/>
                </a:solidFill>
              </a:rPr>
              <a:t>% от </a:t>
            </a:r>
            <a:r>
              <a:rPr lang="bg-BG" sz="2600" dirty="0" smtClean="0">
                <a:solidFill>
                  <a:prstClr val="white"/>
                </a:solidFill>
              </a:rPr>
              <a:t>изпита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51212" y="838200"/>
            <a:ext cx="5334000" cy="1230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Programming Basics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Учебен план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31996" y="3174116"/>
            <a:ext cx="6096000" cy="1840946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Technologies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0337" y="3230180"/>
            <a:ext cx="14670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600" dirty="0">
                <a:solidFill>
                  <a:srgbClr val="FBEEC9">
                    <a:lumMod val="75000"/>
                  </a:srgbClr>
                </a:solidFill>
              </a:rPr>
              <a:t>4 </a:t>
            </a:r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месеца</a:t>
            </a:r>
            <a:endParaRPr lang="en-US" sz="2600" dirty="0">
              <a:solidFill>
                <a:srgbClr val="FBEEC9">
                  <a:lumMod val="75000"/>
                </a:srgb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37788" y="4179528"/>
            <a:ext cx="1001375" cy="761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 + </a:t>
            </a:r>
            <a:r>
              <a:rPr lang="en-US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</a:t>
            </a:r>
            <a:endParaRPr 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8307" y="4177580"/>
            <a:ext cx="1624076" cy="76394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Basics</a:t>
            </a:r>
            <a:endParaRPr lang="bg-BG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35622" y="1498643"/>
            <a:ext cx="5097190" cy="4180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Coding for beginners</a:t>
            </a:r>
            <a:endParaRPr lang="bg-BG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31252" y="4179528"/>
            <a:ext cx="1064676" cy="761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PHP + MySQL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10761" y="4179527"/>
            <a:ext cx="762002" cy="761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C# Web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7934" y="4179527"/>
            <a:ext cx="795852" cy="761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Web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3527" y="838200"/>
            <a:ext cx="30168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bg-BG" sz="1800" dirty="0" smtClean="0">
                <a:solidFill>
                  <a:prstClr val="white"/>
                </a:solidFill>
              </a:rPr>
              <a:t>3</a:t>
            </a: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71058" y="3174116"/>
            <a:ext cx="756938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prstClr val="white"/>
                </a:solidFill>
              </a:rPr>
              <a:t>6 + 12</a:t>
            </a: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8815" y="954627"/>
            <a:ext cx="222804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>
                <a:solidFill>
                  <a:prstClr val="white"/>
                </a:solidFill>
              </a:rPr>
              <a:t>Безплатен</a:t>
            </a:r>
          </a:p>
          <a:p>
            <a:r>
              <a:rPr lang="bg-BG" sz="2600" dirty="0" smtClean="0">
                <a:solidFill>
                  <a:prstClr val="white"/>
                </a:solidFill>
              </a:rPr>
              <a:t>входящ модул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88815" y="3375840"/>
            <a:ext cx="245131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>
                <a:solidFill>
                  <a:prstClr val="white"/>
                </a:solidFill>
              </a:rPr>
              <a:t>Ориентационен</a:t>
            </a:r>
          </a:p>
          <a:p>
            <a:r>
              <a:rPr lang="bg-BG" sz="2600" dirty="0" smtClean="0">
                <a:solidFill>
                  <a:prstClr val="white"/>
                </a:solidFill>
              </a:rPr>
              <a:t>модул</a:t>
            </a:r>
            <a:endParaRPr lang="en-US" sz="2600" dirty="0">
              <a:solidFill>
                <a:prstClr val="white"/>
              </a:solidFill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>
            <a:off x="0" y="2971800"/>
            <a:ext cx="12188825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0" y="5181600"/>
            <a:ext cx="12188825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027996" y="4642724"/>
            <a:ext cx="29338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>
                <a:solidFill>
                  <a:prstClr val="white"/>
                </a:solidFill>
              </a:rPr>
              <a:t>Избор на професия</a:t>
            </a:r>
            <a:endParaRPr lang="en-US" sz="2600" dirty="0">
              <a:solidFill>
                <a:prstClr val="white"/>
              </a:solidFill>
            </a:endParaRPr>
          </a:p>
        </p:txBody>
      </p:sp>
      <p:cxnSp>
        <p:nvCxnSpPr>
          <p:cNvPr id="77" name="Straight Arrow Connector 76"/>
          <p:cNvCxnSpPr>
            <a:stCxn id="76" idx="1"/>
          </p:cNvCxnSpPr>
          <p:nvPr/>
        </p:nvCxnSpPr>
        <p:spPr>
          <a:xfrm flipH="1">
            <a:off x="8417918" y="4888946"/>
            <a:ext cx="610078" cy="29265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351212" y="5892539"/>
            <a:ext cx="5334000" cy="6026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Professional Qualification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88815" y="5446263"/>
            <a:ext cx="260013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>
                <a:solidFill>
                  <a:prstClr val="white"/>
                </a:solidFill>
              </a:rPr>
              <a:t>Основна модули</a:t>
            </a:r>
          </a:p>
          <a:p>
            <a:r>
              <a:rPr lang="bg-BG" sz="2600" dirty="0" smtClean="0">
                <a:solidFill>
                  <a:prstClr val="white"/>
                </a:solidFill>
              </a:rPr>
              <a:t>за професии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500637" y="1128762"/>
            <a:ext cx="13067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1</a:t>
            </a:r>
            <a:r>
              <a:rPr lang="en-US" sz="2600" dirty="0" smtClean="0">
                <a:solidFill>
                  <a:srgbClr val="FBEEC9">
                    <a:lumMod val="75000"/>
                  </a:srgbClr>
                </a:solidFill>
              </a:rPr>
              <a:t> </a:t>
            </a:r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месец</a:t>
            </a:r>
            <a:endParaRPr lang="en-US" sz="2600" dirty="0">
              <a:solidFill>
                <a:srgbClr val="FBEEC9">
                  <a:lumMod val="75000"/>
                </a:srgbClr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901114" y="5474255"/>
            <a:ext cx="190629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600" dirty="0">
                <a:solidFill>
                  <a:srgbClr val="FBEEC9">
                    <a:lumMod val="75000"/>
                  </a:srgbClr>
                </a:solidFill>
              </a:rPr>
              <a:t>8-24 </a:t>
            </a:r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месеца</a:t>
            </a:r>
            <a:endParaRPr lang="en-US" sz="2600" dirty="0">
              <a:solidFill>
                <a:srgbClr val="FBEEC9">
                  <a:lumMod val="75000"/>
                </a:srgbClr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616699" y="2079248"/>
            <a:ext cx="0" cy="1105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7" idx="2"/>
          </p:cNvCxnSpPr>
          <p:nvPr/>
        </p:nvCxnSpPr>
        <p:spPr>
          <a:xfrm>
            <a:off x="5979996" y="5015062"/>
            <a:ext cx="457200" cy="8774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7" idx="2"/>
          </p:cNvCxnSpPr>
          <p:nvPr/>
        </p:nvCxnSpPr>
        <p:spPr>
          <a:xfrm>
            <a:off x="5979996" y="5015062"/>
            <a:ext cx="1600200" cy="8774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7" idx="2"/>
          </p:cNvCxnSpPr>
          <p:nvPr/>
        </p:nvCxnSpPr>
        <p:spPr>
          <a:xfrm flipH="1">
            <a:off x="4074996" y="5015062"/>
            <a:ext cx="1905000" cy="8774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7" idx="2"/>
          </p:cNvCxnSpPr>
          <p:nvPr/>
        </p:nvCxnSpPr>
        <p:spPr>
          <a:xfrm flipH="1">
            <a:off x="5217996" y="5015062"/>
            <a:ext cx="762000" cy="8774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66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914400" y="1066799"/>
            <a:ext cx="4343400" cy="1371600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effectLst>
            <a:outerShdw sx="23000" sy="23000" algn="ctr" rotWithShape="0">
              <a:srgbClr val="000000"/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sz="2400" b="1" dirty="0" smtClean="0">
                <a:solidFill>
                  <a:srgbClr val="FBEEC9">
                    <a:lumMod val="75000"/>
                  </a:srgbClr>
                </a:solidFill>
              </a:rPr>
              <a:t>Programming </a:t>
            </a:r>
            <a:r>
              <a:rPr lang="en-US" sz="2400" b="1" dirty="0" smtClean="0">
                <a:solidFill>
                  <a:srgbClr val="FBEEC9">
                    <a:lumMod val="75000"/>
                  </a:srgbClr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Basics</a:t>
            </a:r>
            <a:endParaRPr lang="bg-BG" sz="2400" b="1" dirty="0">
              <a:solidFill>
                <a:prstClr val="white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</a:t>
            </a:r>
            <a:r>
              <a:rPr lang="bg-BG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занятия + 6 упражнения + изпит</a:t>
            </a:r>
            <a:endParaRPr 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Technologies Module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14400" y="3047999"/>
            <a:ext cx="4343400" cy="1371600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sz="2400" b="1" dirty="0" smtClean="0">
                <a:solidFill>
                  <a:srgbClr val="FBEEC9">
                    <a:lumMod val="75000"/>
                  </a:srgbClr>
                </a:solidFill>
              </a:rPr>
              <a:t>HTML </a:t>
            </a:r>
            <a:r>
              <a:rPr lang="en-US" sz="2400" b="1" dirty="0">
                <a:solidFill>
                  <a:srgbClr val="FBEEC9">
                    <a:lumMod val="75000"/>
                  </a:srgbClr>
                </a:solidFill>
              </a:rPr>
              <a:t>+ CSS + </a:t>
            </a:r>
            <a:r>
              <a:rPr lang="en-US" sz="2400" b="1" dirty="0" smtClean="0">
                <a:solidFill>
                  <a:srgbClr val="FBEEC9">
                    <a:lumMod val="75000"/>
                  </a:srgbClr>
                </a:solidFill>
              </a:rPr>
              <a:t>JS</a:t>
            </a:r>
            <a:endParaRPr lang="en-US" i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bg-BG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занятия + 5 </a:t>
            </a:r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упражнения</a:t>
            </a:r>
            <a:endParaRPr 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400" y="5029200"/>
            <a:ext cx="4343400" cy="1371600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sz="2400" b="1" dirty="0" smtClean="0">
                <a:solidFill>
                  <a:srgbClr val="FBEEC9">
                    <a:lumMod val="75000"/>
                  </a:srgbClr>
                </a:solidFill>
              </a:rPr>
              <a:t>PHP + MySQL</a:t>
            </a:r>
          </a:p>
          <a:p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bg-BG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занятия + 5 </a:t>
            </a:r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упражнения</a:t>
            </a:r>
            <a:endParaRPr 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04011" y="1066801"/>
            <a:ext cx="4343400" cy="1371600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sz="2400" b="1" dirty="0" smtClean="0">
                <a:solidFill>
                  <a:srgbClr val="FBEEC9">
                    <a:lumMod val="75000"/>
                  </a:srgbClr>
                </a:solidFill>
              </a:rPr>
              <a:t>C# Web</a:t>
            </a:r>
            <a:endParaRPr lang="bg-BG" sz="24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bg-BG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занятия + </a:t>
            </a:r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упражнения</a:t>
            </a:r>
            <a:endParaRPr 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4011" y="3029294"/>
            <a:ext cx="4343400" cy="1371600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en-US" sz="2400" b="1" dirty="0" smtClean="0">
                <a:solidFill>
                  <a:srgbClr val="FBEEC9">
                    <a:lumMod val="75000"/>
                  </a:srgbClr>
                </a:solidFill>
              </a:rPr>
              <a:t>Java Web</a:t>
            </a:r>
            <a:endParaRPr lang="bg-BG" sz="24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bg-BG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занятия + </a:t>
            </a:r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упражнения</a:t>
            </a:r>
            <a:endParaRPr 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94012" y="2426926"/>
            <a:ext cx="0" cy="62107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894012" y="4408127"/>
            <a:ext cx="0" cy="62107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04011" y="5029199"/>
            <a:ext cx="4343400" cy="1371600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2000"/>
            </a:lvl1pPr>
          </a:lstStyle>
          <a:p>
            <a:r>
              <a:rPr lang="bg-BG" sz="2400" b="1" dirty="0" smtClean="0">
                <a:solidFill>
                  <a:srgbClr val="FBEEC9">
                    <a:lumMod val="75000"/>
                  </a:srgbClr>
                </a:solidFill>
              </a:rPr>
              <a:t>Екипен Проект</a:t>
            </a:r>
            <a:endParaRPr lang="en-US" sz="2400" b="1" dirty="0" smtClean="0">
              <a:solidFill>
                <a:srgbClr val="FBEEC9">
                  <a:lumMod val="75000"/>
                </a:srgbClr>
              </a:solidFill>
            </a:endParaRPr>
          </a:p>
          <a:p>
            <a:r>
              <a:rPr lang="bg-BG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Защита пред жури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8990012" y="2426927"/>
            <a:ext cx="0" cy="62107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8990012" y="4408128"/>
            <a:ext cx="0" cy="62107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5" idx="3"/>
            <a:endCxn id="36" idx="1"/>
          </p:cNvCxnSpPr>
          <p:nvPr/>
        </p:nvCxnSpPr>
        <p:spPr>
          <a:xfrm flipV="1">
            <a:off x="5257800" y="1752601"/>
            <a:ext cx="1446211" cy="396239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56114" y="1066801"/>
            <a:ext cx="301686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prstClr val="white"/>
                </a:solidFill>
              </a:rPr>
              <a:t>6</a:t>
            </a: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628707" y="5029202"/>
            <a:ext cx="41870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prstClr val="white"/>
                </a:solidFill>
              </a:rPr>
              <a:t>12</a:t>
            </a:r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86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8" grpId="0" animBg="1"/>
      <p:bldP spid="44" grpId="0" animBg="1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/>
          <p:cNvSpPr txBox="1"/>
          <p:nvPr/>
        </p:nvSpPr>
        <p:spPr>
          <a:xfrm>
            <a:off x="303212" y="2892900"/>
            <a:ext cx="4495800" cy="619323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Web Basics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Професии </a:t>
            </a:r>
            <a:r>
              <a:rPr lang="en-US" dirty="0" smtClean="0"/>
              <a:t>JavaScript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PHP </a:t>
            </a:r>
            <a:r>
              <a:rPr lang="en-US" dirty="0" smtClean="0"/>
              <a:t>Developer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3212" y="1060802"/>
            <a:ext cx="44958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JS Core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212" y="1975202"/>
            <a:ext cx="44958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MEAN Stack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4" name="Straight Arrow Connector 23"/>
          <p:cNvCxnSpPr>
            <a:stCxn id="7" idx="2"/>
            <a:endCxn id="23" idx="0"/>
          </p:cNvCxnSpPr>
          <p:nvPr/>
        </p:nvCxnSpPr>
        <p:spPr>
          <a:xfrm>
            <a:off x="2551112" y="1670402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3212" y="3810000"/>
            <a:ext cx="4495800" cy="609600"/>
          </a:xfrm>
          <a:prstGeom prst="rect">
            <a:avLst/>
          </a:prstGeom>
          <a:solidFill>
            <a:srgbClr val="F7DD9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Data Structures &amp; </a:t>
            </a:r>
            <a:r>
              <a:rPr lang="en-US" sz="2800" dirty="0" err="1">
                <a:solidFill>
                  <a:prstClr val="black"/>
                </a:solidFill>
              </a:rPr>
              <a:t>Algo</a:t>
            </a:r>
            <a:endParaRPr lang="en-US" sz="2800" dirty="0">
              <a:solidFill>
                <a:prstClr val="black"/>
              </a:solidFill>
            </a:endParaRPr>
          </a:p>
        </p:txBody>
      </p:sp>
      <p:cxnSp>
        <p:nvCxnSpPr>
          <p:cNvPr id="27" name="Straight Arrow Connector 26"/>
          <p:cNvCxnSpPr>
            <a:stCxn id="23" idx="2"/>
            <a:endCxn id="37" idx="0"/>
          </p:cNvCxnSpPr>
          <p:nvPr/>
        </p:nvCxnSpPr>
        <p:spPr>
          <a:xfrm>
            <a:off x="2551112" y="2584802"/>
            <a:ext cx="0" cy="308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3212" y="4724400"/>
            <a:ext cx="4495800" cy="609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IT Basics</a:t>
            </a:r>
          </a:p>
        </p:txBody>
      </p:sp>
      <p:cxnSp>
        <p:nvCxnSpPr>
          <p:cNvPr id="30" name="Straight Arrow Connector 29"/>
          <p:cNvCxnSpPr>
            <a:stCxn id="26" idx="2"/>
            <a:endCxn id="29" idx="0"/>
          </p:cNvCxnSpPr>
          <p:nvPr/>
        </p:nvCxnSpPr>
        <p:spPr>
          <a:xfrm>
            <a:off x="2551112" y="4419600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3212" y="5638800"/>
            <a:ext cx="4495800" cy="609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Embedded &amp; Mobile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33" name="Straight Arrow Connector 32"/>
          <p:cNvCxnSpPr>
            <a:stCxn id="29" idx="2"/>
            <a:endCxn id="31" idx="0"/>
          </p:cNvCxnSpPr>
          <p:nvPr/>
        </p:nvCxnSpPr>
        <p:spPr>
          <a:xfrm>
            <a:off x="2551112" y="5334000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94186" y="2891058"/>
            <a:ext cx="30168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2819400"/>
            <a:ext cx="12188825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0" y="6400800"/>
            <a:ext cx="12188825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41799" y="1012448"/>
            <a:ext cx="254702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BEEC9">
                    <a:lumMod val="75000"/>
                  </a:srgbClr>
                </a:solidFill>
              </a:rPr>
              <a:t>2 x 4 </a:t>
            </a:r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месеца</a:t>
            </a:r>
            <a:endParaRPr lang="bg-BG" sz="2600" dirty="0">
              <a:solidFill>
                <a:srgbClr val="FBEEC9">
                  <a:lumMod val="75000"/>
                </a:srgbClr>
              </a:solidFill>
            </a:endParaRPr>
          </a:p>
          <a:p>
            <a:r>
              <a:rPr lang="bg-BG" sz="2600" dirty="0" smtClean="0">
                <a:solidFill>
                  <a:prstClr val="white"/>
                </a:solidFill>
              </a:rPr>
              <a:t>Задължителени курсове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97346" y="3011270"/>
            <a:ext cx="22978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BEEC9">
                    <a:lumMod val="75000"/>
                  </a:srgbClr>
                </a:solidFill>
              </a:rPr>
              <a:t>2 x 4 </a:t>
            </a:r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месеца</a:t>
            </a:r>
            <a:endParaRPr lang="en-US" sz="2600" dirty="0">
              <a:solidFill>
                <a:srgbClr val="FBEEC9">
                  <a:lumMod val="75000"/>
                </a:srgbClr>
              </a:solidFill>
            </a:endParaRPr>
          </a:p>
          <a:p>
            <a:r>
              <a:rPr lang="bg-BG" sz="2600" dirty="0" smtClean="0">
                <a:solidFill>
                  <a:prstClr val="white"/>
                </a:solidFill>
              </a:rPr>
              <a:t>Основни курсове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112359" y="5029200"/>
            <a:ext cx="207646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prstClr val="white"/>
                </a:solidFill>
              </a:rPr>
              <a:t>&gt;130 </a:t>
            </a:r>
            <a:r>
              <a:rPr lang="bg-BG" sz="2600" dirty="0" smtClean="0">
                <a:solidFill>
                  <a:prstClr val="white"/>
                </a:solidFill>
              </a:rPr>
              <a:t>кредита</a:t>
            </a:r>
            <a:endParaRPr lang="en-US" sz="2600" dirty="0">
              <a:solidFill>
                <a:prstClr val="white"/>
              </a:solidFill>
            </a:endParaRPr>
          </a:p>
          <a:p>
            <a:r>
              <a:rPr lang="bg-BG" sz="2600" dirty="0" smtClean="0">
                <a:solidFill>
                  <a:prstClr val="white"/>
                </a:solidFill>
              </a:rPr>
              <a:t>Диплома</a:t>
            </a:r>
            <a:endParaRPr lang="en-US" sz="2600" dirty="0">
              <a:solidFill>
                <a:prstClr val="white"/>
              </a:solidFill>
            </a:endParaRPr>
          </a:p>
        </p:txBody>
      </p:sp>
      <p:cxnSp>
        <p:nvCxnSpPr>
          <p:cNvPr id="59" name="Straight Arrow Connector 58"/>
          <p:cNvCxnSpPr>
            <a:stCxn id="58" idx="1"/>
          </p:cNvCxnSpPr>
          <p:nvPr/>
        </p:nvCxnSpPr>
        <p:spPr>
          <a:xfrm flipH="1">
            <a:off x="9697346" y="5475476"/>
            <a:ext cx="415013" cy="8491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0" y="4572000"/>
            <a:ext cx="12188825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389424" y="1070313"/>
            <a:ext cx="41870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87902" y="1984712"/>
            <a:ext cx="41870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7167" y="3817023"/>
            <a:ext cx="41870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94186" y="4724400"/>
            <a:ext cx="30168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94186" y="5646214"/>
            <a:ext cx="30168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38405" y="2892900"/>
            <a:ext cx="4495800" cy="619323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Web Basics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38405" y="1060802"/>
            <a:ext cx="44958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PHP Fundamentals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38405" y="1975202"/>
            <a:ext cx="44958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PHP Web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86" name="Straight Arrow Connector 85"/>
          <p:cNvCxnSpPr>
            <a:stCxn id="83" idx="2"/>
            <a:endCxn id="85" idx="0"/>
          </p:cNvCxnSpPr>
          <p:nvPr/>
        </p:nvCxnSpPr>
        <p:spPr>
          <a:xfrm>
            <a:off x="7386305" y="1670402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138405" y="3810000"/>
            <a:ext cx="4495800" cy="609600"/>
          </a:xfrm>
          <a:prstGeom prst="rect">
            <a:avLst/>
          </a:prstGeom>
          <a:solidFill>
            <a:srgbClr val="F7DD9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JS Core</a:t>
            </a:r>
          </a:p>
        </p:txBody>
      </p:sp>
      <p:cxnSp>
        <p:nvCxnSpPr>
          <p:cNvPr id="88" name="Straight Arrow Connector 87"/>
          <p:cNvCxnSpPr>
            <a:stCxn id="85" idx="2"/>
            <a:endCxn id="82" idx="0"/>
          </p:cNvCxnSpPr>
          <p:nvPr/>
        </p:nvCxnSpPr>
        <p:spPr>
          <a:xfrm>
            <a:off x="7386305" y="2584802"/>
            <a:ext cx="0" cy="308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138405" y="4724400"/>
            <a:ext cx="4495800" cy="609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IT Basics</a:t>
            </a:r>
          </a:p>
        </p:txBody>
      </p:sp>
      <p:cxnSp>
        <p:nvCxnSpPr>
          <p:cNvPr id="90" name="Straight Arrow Connector 89"/>
          <p:cNvCxnSpPr>
            <a:stCxn id="87" idx="2"/>
            <a:endCxn id="89" idx="0"/>
          </p:cNvCxnSpPr>
          <p:nvPr/>
        </p:nvCxnSpPr>
        <p:spPr>
          <a:xfrm>
            <a:off x="7386305" y="4419600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138405" y="5638800"/>
            <a:ext cx="4495800" cy="609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rtlCol="0" anchor="t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Embedded &amp; Mobile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92" name="Straight Arrow Connector 91"/>
          <p:cNvCxnSpPr>
            <a:stCxn id="89" idx="2"/>
            <a:endCxn id="91" idx="0"/>
          </p:cNvCxnSpPr>
          <p:nvPr/>
        </p:nvCxnSpPr>
        <p:spPr>
          <a:xfrm>
            <a:off x="7386305" y="5334000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340114" y="2891058"/>
            <a:ext cx="30168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23095" y="1066280"/>
            <a:ext cx="41870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23095" y="1980679"/>
            <a:ext cx="41870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23095" y="3817023"/>
            <a:ext cx="41870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40114" y="4724400"/>
            <a:ext cx="30168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40114" y="5646214"/>
            <a:ext cx="30168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cxnSp>
        <p:nvCxnSpPr>
          <p:cNvPr id="65" name="Straight Arrow Connector 64"/>
          <p:cNvCxnSpPr>
            <a:stCxn id="37" idx="2"/>
            <a:endCxn id="26" idx="0"/>
          </p:cNvCxnSpPr>
          <p:nvPr/>
        </p:nvCxnSpPr>
        <p:spPr>
          <a:xfrm>
            <a:off x="2551112" y="3512223"/>
            <a:ext cx="0" cy="297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82" idx="2"/>
            <a:endCxn id="87" idx="0"/>
          </p:cNvCxnSpPr>
          <p:nvPr/>
        </p:nvCxnSpPr>
        <p:spPr>
          <a:xfrm>
            <a:off x="7386305" y="3512223"/>
            <a:ext cx="0" cy="297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2551112" y="6259649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7386305" y="6248400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toShape 6"/>
          <p:cNvSpPr>
            <a:spLocks noChangeArrowheads="1"/>
          </p:cNvSpPr>
          <p:nvPr/>
        </p:nvSpPr>
        <p:spPr bwMode="auto">
          <a:xfrm>
            <a:off x="8411299" y="1847910"/>
            <a:ext cx="3721979" cy="914399"/>
          </a:xfrm>
          <a:prstGeom prst="wedgeRoundRectCallout">
            <a:avLst>
              <a:gd name="adj1" fmla="val -64103"/>
              <a:gd name="adj2" fmla="val 60762"/>
              <a:gd name="adj3" fmla="val 16667"/>
            </a:avLst>
          </a:prstGeom>
          <a:solidFill>
            <a:srgbClr val="663606">
              <a:alpha val="95000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&gt;70 </a:t>
            </a:r>
            <a:r>
              <a:rPr lang="bg-BG" sz="2800" dirty="0"/>
              <a:t>кредита за започване на работа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703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Професии </a:t>
            </a:r>
            <a:r>
              <a:rPr lang="en-US" dirty="0" smtClean="0"/>
              <a:t>C</a:t>
            </a:r>
            <a:r>
              <a:rPr lang="en-US" dirty="0"/>
              <a:t>#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Java Web </a:t>
            </a:r>
            <a:r>
              <a:rPr lang="en-US" dirty="0" smtClean="0"/>
              <a:t>Develope</a:t>
            </a:r>
            <a:r>
              <a:rPr lang="en-US" dirty="0"/>
              <a:t>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212" y="1032517"/>
            <a:ext cx="4495800" cy="5407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C# Fundamentals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3212" y="1847942"/>
            <a:ext cx="4495800" cy="5323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DB Fundamentals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8" name="Straight Arrow Connector 27"/>
          <p:cNvCxnSpPr>
            <a:stCxn id="37" idx="2"/>
            <a:endCxn id="7" idx="0"/>
          </p:cNvCxnSpPr>
          <p:nvPr/>
        </p:nvCxnSpPr>
        <p:spPr>
          <a:xfrm>
            <a:off x="2551112" y="1573308"/>
            <a:ext cx="0" cy="274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3212" y="2646394"/>
            <a:ext cx="4495800" cy="5323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C# Web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4" name="Straight Arrow Connector 23"/>
          <p:cNvCxnSpPr>
            <a:stCxn id="7" idx="2"/>
            <a:endCxn id="23" idx="0"/>
          </p:cNvCxnSpPr>
          <p:nvPr/>
        </p:nvCxnSpPr>
        <p:spPr>
          <a:xfrm>
            <a:off x="2551112" y="2380244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3212" y="3444847"/>
            <a:ext cx="4495800" cy="532301"/>
          </a:xfrm>
          <a:prstGeom prst="rect">
            <a:avLst/>
          </a:prstGeom>
          <a:solidFill>
            <a:srgbClr val="F7DD9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JS Core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7" name="Straight Arrow Connector 26"/>
          <p:cNvCxnSpPr>
            <a:stCxn id="23" idx="2"/>
            <a:endCxn id="26" idx="0"/>
          </p:cNvCxnSpPr>
          <p:nvPr/>
        </p:nvCxnSpPr>
        <p:spPr>
          <a:xfrm>
            <a:off x="2551112" y="3178696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3212" y="4243299"/>
            <a:ext cx="4495800" cy="532301"/>
          </a:xfrm>
          <a:prstGeom prst="rect">
            <a:avLst/>
          </a:prstGeom>
          <a:solidFill>
            <a:srgbClr val="F7DD9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Data Structures &amp; </a:t>
            </a:r>
            <a:r>
              <a:rPr lang="en-US" sz="2800" dirty="0" err="1">
                <a:solidFill>
                  <a:prstClr val="black"/>
                </a:solidFill>
              </a:rPr>
              <a:t>Algo</a:t>
            </a:r>
            <a:endParaRPr lang="en-US" sz="2800" dirty="0">
              <a:solidFill>
                <a:prstClr val="black"/>
              </a:solidFill>
            </a:endParaRPr>
          </a:p>
        </p:txBody>
      </p:sp>
      <p:cxnSp>
        <p:nvCxnSpPr>
          <p:cNvPr id="30" name="Straight Arrow Connector 29"/>
          <p:cNvCxnSpPr>
            <a:stCxn id="26" idx="2"/>
            <a:endCxn id="29" idx="0"/>
          </p:cNvCxnSpPr>
          <p:nvPr/>
        </p:nvCxnSpPr>
        <p:spPr>
          <a:xfrm>
            <a:off x="2551112" y="3977148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3212" y="5041751"/>
            <a:ext cx="4495800" cy="53230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Web Basics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33" name="Straight Arrow Connector 32"/>
          <p:cNvCxnSpPr>
            <a:stCxn id="29" idx="2"/>
            <a:endCxn id="31" idx="0"/>
          </p:cNvCxnSpPr>
          <p:nvPr/>
        </p:nvCxnSpPr>
        <p:spPr>
          <a:xfrm>
            <a:off x="2551112" y="4775600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77167" y="1073069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3311771"/>
            <a:ext cx="12188825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0" y="6477000"/>
            <a:ext cx="12188825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752012" y="5384672"/>
            <a:ext cx="2438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prstClr val="white"/>
                </a:solidFill>
              </a:rPr>
              <a:t>&gt;170 </a:t>
            </a:r>
            <a:r>
              <a:rPr lang="bg-BG" sz="2600" dirty="0" smtClean="0">
                <a:solidFill>
                  <a:prstClr val="white"/>
                </a:solidFill>
              </a:rPr>
              <a:t>кредита</a:t>
            </a:r>
            <a:endParaRPr lang="en-US" sz="2600" dirty="0">
              <a:solidFill>
                <a:prstClr val="white"/>
              </a:solidFill>
            </a:endParaRPr>
          </a:p>
          <a:p>
            <a:r>
              <a:rPr lang="bg-BG" sz="2600" dirty="0" smtClean="0">
                <a:solidFill>
                  <a:prstClr val="white"/>
                </a:solidFill>
              </a:rPr>
              <a:t>Диплома</a:t>
            </a:r>
            <a:endParaRPr lang="en-US" sz="2600" dirty="0">
              <a:solidFill>
                <a:prstClr val="white"/>
              </a:solidFill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9664902" y="6153974"/>
            <a:ext cx="620510" cy="32302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0" y="4908676"/>
            <a:ext cx="12188825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377167" y="1859150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77167" y="2657602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7167" y="3464731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77167" y="4257051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94186" y="5061977"/>
            <a:ext cx="301685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38405" y="1032517"/>
            <a:ext cx="4495800" cy="5407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Java Fundamentals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38405" y="1847942"/>
            <a:ext cx="4495800" cy="5323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DB Fundamentals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84" name="Straight Arrow Connector 83"/>
          <p:cNvCxnSpPr>
            <a:stCxn id="82" idx="2"/>
            <a:endCxn id="83" idx="0"/>
          </p:cNvCxnSpPr>
          <p:nvPr/>
        </p:nvCxnSpPr>
        <p:spPr>
          <a:xfrm>
            <a:off x="7386305" y="1573308"/>
            <a:ext cx="0" cy="274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138405" y="2646394"/>
            <a:ext cx="4495800" cy="5323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Java Web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86" name="Straight Arrow Connector 85"/>
          <p:cNvCxnSpPr>
            <a:stCxn id="83" idx="2"/>
            <a:endCxn id="85" idx="0"/>
          </p:cNvCxnSpPr>
          <p:nvPr/>
        </p:nvCxnSpPr>
        <p:spPr>
          <a:xfrm>
            <a:off x="7386305" y="2380244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138405" y="3444847"/>
            <a:ext cx="4495800" cy="532301"/>
          </a:xfrm>
          <a:prstGeom prst="rect">
            <a:avLst/>
          </a:prstGeom>
          <a:solidFill>
            <a:srgbClr val="F7DD9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JS Core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88" name="Straight Arrow Connector 87"/>
          <p:cNvCxnSpPr>
            <a:stCxn id="85" idx="2"/>
            <a:endCxn id="87" idx="0"/>
          </p:cNvCxnSpPr>
          <p:nvPr/>
        </p:nvCxnSpPr>
        <p:spPr>
          <a:xfrm>
            <a:off x="7386305" y="3178696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138405" y="4243299"/>
            <a:ext cx="4495800" cy="532301"/>
          </a:xfrm>
          <a:prstGeom prst="rect">
            <a:avLst/>
          </a:prstGeom>
          <a:solidFill>
            <a:srgbClr val="F7DD9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Data Structures &amp; </a:t>
            </a:r>
            <a:r>
              <a:rPr lang="en-US" sz="2800" dirty="0" err="1">
                <a:solidFill>
                  <a:prstClr val="black"/>
                </a:solidFill>
              </a:rPr>
              <a:t>Algo</a:t>
            </a:r>
            <a:endParaRPr lang="en-US" sz="2800" dirty="0">
              <a:solidFill>
                <a:prstClr val="black"/>
              </a:solidFill>
            </a:endParaRPr>
          </a:p>
        </p:txBody>
      </p:sp>
      <p:cxnSp>
        <p:nvCxnSpPr>
          <p:cNvPr id="90" name="Straight Arrow Connector 89"/>
          <p:cNvCxnSpPr>
            <a:stCxn id="87" idx="2"/>
            <a:endCxn id="89" idx="0"/>
          </p:cNvCxnSpPr>
          <p:nvPr/>
        </p:nvCxnSpPr>
        <p:spPr>
          <a:xfrm>
            <a:off x="7386305" y="3977148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138405" y="5041751"/>
            <a:ext cx="4495800" cy="53230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Web Basics</a:t>
            </a:r>
          </a:p>
        </p:txBody>
      </p:sp>
      <p:cxnSp>
        <p:nvCxnSpPr>
          <p:cNvPr id="92" name="Straight Arrow Connector 91"/>
          <p:cNvCxnSpPr>
            <a:stCxn id="89" idx="2"/>
            <a:endCxn id="91" idx="0"/>
          </p:cNvCxnSpPr>
          <p:nvPr/>
        </p:nvCxnSpPr>
        <p:spPr>
          <a:xfrm>
            <a:off x="7386305" y="4775600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223095" y="1073069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12360" y="1859150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12360" y="2657602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12360" y="3464731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12360" y="4257051"/>
            <a:ext cx="418704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24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29379" y="5061977"/>
            <a:ext cx="301685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551112" y="5583875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386305" y="5574053"/>
            <a:ext cx="0" cy="2661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03212" y="5830948"/>
            <a:ext cx="4495800" cy="5258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Embedded &amp; Mobile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494186" y="5851095"/>
            <a:ext cx="301685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38405" y="5830948"/>
            <a:ext cx="4495800" cy="5258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0" bIns="0" rtlCol="0" anchor="ctr" anchorCtr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prstClr val="black"/>
                </a:solidFill>
              </a:rPr>
              <a:t>Embedded &amp; Mobile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40114" y="5851095"/>
            <a:ext cx="301685" cy="27699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tIns="0" bIns="0" rtlCol="0" anchor="ctr" anchorCtr="0">
            <a:spAutoFit/>
          </a:bodyPr>
          <a:lstStyle/>
          <a:p>
            <a:pPr algn="r"/>
            <a:r>
              <a:rPr lang="en-US" sz="1800" dirty="0">
                <a:solidFill>
                  <a:prstClr val="white"/>
                </a:solidFill>
              </a:rPr>
              <a:t>9</a:t>
            </a: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2551112" y="6366484"/>
            <a:ext cx="0" cy="2629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386305" y="6356781"/>
            <a:ext cx="0" cy="2629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641799" y="1012448"/>
            <a:ext cx="254702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3</a:t>
            </a:r>
            <a:r>
              <a:rPr lang="en-US" sz="2600" dirty="0" smtClean="0">
                <a:solidFill>
                  <a:srgbClr val="FBEEC9">
                    <a:lumMod val="75000"/>
                  </a:srgbClr>
                </a:solidFill>
              </a:rPr>
              <a:t> </a:t>
            </a:r>
            <a:r>
              <a:rPr lang="en-US" sz="2600" dirty="0">
                <a:solidFill>
                  <a:srgbClr val="FBEEC9">
                    <a:lumMod val="75000"/>
                  </a:srgbClr>
                </a:solidFill>
              </a:rPr>
              <a:t>x 4 </a:t>
            </a:r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месеца</a:t>
            </a:r>
            <a:endParaRPr lang="bg-BG" sz="2600" dirty="0">
              <a:solidFill>
                <a:srgbClr val="FBEEC9">
                  <a:lumMod val="75000"/>
                </a:srgbClr>
              </a:solidFill>
            </a:endParaRPr>
          </a:p>
          <a:p>
            <a:r>
              <a:rPr lang="bg-BG" sz="2600" dirty="0" smtClean="0">
                <a:solidFill>
                  <a:prstClr val="white"/>
                </a:solidFill>
              </a:rPr>
              <a:t>Задължителени курсове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675812" y="3429000"/>
            <a:ext cx="195087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BEEC9">
                    <a:lumMod val="75000"/>
                  </a:srgbClr>
                </a:solidFill>
              </a:rPr>
              <a:t>2 x 4 </a:t>
            </a:r>
            <a:r>
              <a:rPr lang="bg-BG" sz="2600" dirty="0" smtClean="0">
                <a:solidFill>
                  <a:srgbClr val="FBEEC9">
                    <a:lumMod val="75000"/>
                  </a:srgbClr>
                </a:solidFill>
              </a:rPr>
              <a:t>месеца</a:t>
            </a:r>
            <a:endParaRPr lang="en-US" sz="2600" dirty="0">
              <a:solidFill>
                <a:srgbClr val="FBEEC9">
                  <a:lumMod val="75000"/>
                </a:srgbClr>
              </a:solidFill>
            </a:endParaRPr>
          </a:p>
          <a:p>
            <a:r>
              <a:rPr lang="bg-BG" sz="2600" dirty="0">
                <a:solidFill>
                  <a:prstClr val="white"/>
                </a:solidFill>
              </a:rPr>
              <a:t>О</a:t>
            </a:r>
            <a:r>
              <a:rPr lang="bg-BG" sz="2600" dirty="0" smtClean="0">
                <a:solidFill>
                  <a:prstClr val="white"/>
                </a:solidFill>
              </a:rPr>
              <a:t>сновни курсове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auto">
          <a:xfrm>
            <a:off x="8465258" y="2273882"/>
            <a:ext cx="3721979" cy="914399"/>
          </a:xfrm>
          <a:prstGeom prst="wedgeRoundRectCallout">
            <a:avLst>
              <a:gd name="adj1" fmla="val -64103"/>
              <a:gd name="adj2" fmla="val 6076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 smtClean="0"/>
              <a:t>&gt;</a:t>
            </a:r>
            <a:r>
              <a:rPr lang="bg-BG" sz="2800" dirty="0" smtClean="0"/>
              <a:t>10</a:t>
            </a:r>
            <a:r>
              <a:rPr lang="en-US" sz="2800" dirty="0" smtClean="0"/>
              <a:t>0 </a:t>
            </a:r>
            <a:r>
              <a:rPr lang="bg-BG" sz="2800" dirty="0"/>
              <a:t>кредита за започване на работа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5877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011" y="990601"/>
            <a:ext cx="11768223" cy="5730876"/>
          </a:xfrm>
        </p:spPr>
        <p:txBody>
          <a:bodyPr>
            <a:normAutofit fontScale="77500" lnSpcReduction="20000"/>
          </a:bodyPr>
          <a:lstStyle/>
          <a:p>
            <a:r>
              <a:rPr lang="bg-BG" b="1" noProof="1" smtClean="0">
                <a:solidFill>
                  <a:schemeClr val="tx2">
                    <a:lumMod val="75000"/>
                  </a:schemeClr>
                </a:solidFill>
              </a:rPr>
              <a:t>СофтУни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 сертификати</a:t>
            </a:r>
            <a:endParaRPr lang="en-US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bg-BG" dirty="0" smtClean="0"/>
              <a:t>Всеки курс преминат с успех над 5.00 дава пълният брой кредити</a:t>
            </a:r>
          </a:p>
          <a:p>
            <a:pPr lvl="1"/>
            <a:r>
              <a:rPr lang="bg-BG" sz="2800" dirty="0" smtClean="0"/>
              <a:t>За успех от 3 до 5 се кредитите скалират. </a:t>
            </a:r>
            <a:r>
              <a:rPr lang="bg-BG" sz="2800" b="1" dirty="0" smtClean="0"/>
              <a:t>Пример:</a:t>
            </a:r>
            <a:r>
              <a:rPr lang="bg-BG" sz="2800" dirty="0" smtClean="0"/>
              <a:t> </a:t>
            </a:r>
            <a:r>
              <a:rPr lang="en-US" sz="2800" dirty="0" smtClean="0"/>
              <a:t>C# OOP -</a:t>
            </a:r>
            <a:r>
              <a:rPr lang="bg-BG" sz="2800" dirty="0" smtClean="0"/>
              <a:t>&gt; оценка 3.73 -&gt; 5.19 от 9 кредита</a:t>
            </a:r>
            <a:endParaRPr lang="en-US" sz="2800" dirty="0" smtClean="0"/>
          </a:p>
          <a:p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Диплома за професия</a:t>
            </a:r>
            <a:r>
              <a:rPr lang="en-US" dirty="0" smtClean="0"/>
              <a:t> </a:t>
            </a:r>
            <a:r>
              <a:rPr lang="bg-BG" dirty="0" smtClean="0"/>
              <a:t>от </a:t>
            </a:r>
            <a:r>
              <a:rPr lang="bg-BG" noProof="1" smtClean="0"/>
              <a:t>СофтУни</a:t>
            </a:r>
          </a:p>
          <a:p>
            <a:pPr lvl="1"/>
            <a:r>
              <a:rPr lang="en-US" dirty="0" smtClean="0"/>
              <a:t>JavaScript Developer: &gt;130 </a:t>
            </a:r>
            <a:r>
              <a:rPr lang="bg-BG" dirty="0" smtClean="0"/>
              <a:t>кредита</a:t>
            </a:r>
            <a:endParaRPr lang="en-US" dirty="0" smtClean="0"/>
          </a:p>
          <a:p>
            <a:pPr lvl="1"/>
            <a:r>
              <a:rPr lang="en-US" dirty="0" smtClean="0"/>
              <a:t>PHP Developer</a:t>
            </a:r>
            <a:r>
              <a:rPr lang="en-US" dirty="0"/>
              <a:t>: &gt;130 </a:t>
            </a:r>
            <a:r>
              <a:rPr lang="bg-BG" dirty="0" smtClean="0"/>
              <a:t>кредита</a:t>
            </a:r>
            <a:endParaRPr lang="en-US" dirty="0" smtClean="0"/>
          </a:p>
          <a:p>
            <a:pPr lvl="1"/>
            <a:r>
              <a:rPr lang="en-US" dirty="0" smtClean="0"/>
              <a:t>C# Web Developer</a:t>
            </a:r>
            <a:r>
              <a:rPr lang="en-US" dirty="0"/>
              <a:t>: &gt;</a:t>
            </a:r>
            <a:r>
              <a:rPr lang="en-US" dirty="0" smtClean="0"/>
              <a:t>170 </a:t>
            </a:r>
            <a:r>
              <a:rPr lang="bg-BG" dirty="0" smtClean="0"/>
              <a:t>кредита</a:t>
            </a:r>
            <a:endParaRPr lang="en-US" dirty="0" smtClean="0"/>
          </a:p>
          <a:p>
            <a:pPr lvl="1"/>
            <a:r>
              <a:rPr lang="en-US" dirty="0" smtClean="0"/>
              <a:t>Java Web Developer</a:t>
            </a:r>
            <a:r>
              <a:rPr lang="en-US" dirty="0"/>
              <a:t>: &gt;</a:t>
            </a:r>
            <a:r>
              <a:rPr lang="en-US" dirty="0" smtClean="0"/>
              <a:t>170 </a:t>
            </a:r>
            <a:r>
              <a:rPr lang="bg-BG" dirty="0"/>
              <a:t>кредита</a:t>
            </a:r>
            <a:endParaRPr lang="en-US" dirty="0" smtClean="0"/>
          </a:p>
          <a:p>
            <a:r>
              <a:rPr lang="bg-BG" dirty="0" smtClean="0"/>
              <a:t>Диплома за 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висше образование </a:t>
            </a:r>
            <a:r>
              <a:rPr lang="bg-BG" dirty="0" smtClean="0"/>
              <a:t>(бакалавърска степен)</a:t>
            </a:r>
          </a:p>
          <a:p>
            <a:pPr lvl="1"/>
            <a:r>
              <a:rPr lang="bg-BG" dirty="0" smtClean="0"/>
              <a:t>От </a:t>
            </a:r>
            <a:r>
              <a:rPr lang="bg-BG" dirty="0" smtClean="0">
                <a:hlinkClick r:id="rId2"/>
              </a:rPr>
              <a:t>университети-партньори</a:t>
            </a:r>
            <a:r>
              <a:rPr lang="bg-BG" dirty="0" smtClean="0"/>
              <a:t> (МТМ колеж, ВСУ, БСУ)</a:t>
            </a:r>
          </a:p>
          <a:p>
            <a:pPr lvl="1"/>
            <a:r>
              <a:rPr lang="bg-BG" dirty="0" smtClean="0"/>
              <a:t>2 години @ </a:t>
            </a:r>
            <a:r>
              <a:rPr lang="bg-BG" noProof="1" smtClean="0"/>
              <a:t>СофтУни</a:t>
            </a:r>
            <a:r>
              <a:rPr lang="bg-BG" dirty="0" smtClean="0"/>
              <a:t> + 1-2 години @ университет-партньор</a:t>
            </a:r>
            <a:endParaRPr lang="en-US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Дипломи и сертификати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7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noProof="1" smtClean="0"/>
              <a:t>СофтУни</a:t>
            </a:r>
            <a:r>
              <a:rPr lang="bg-BG" dirty="0" smtClean="0"/>
              <a:t> помага на студентите 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да започнат работа</a:t>
            </a:r>
          </a:p>
          <a:p>
            <a:pPr lvl="1">
              <a:lnSpc>
                <a:spcPct val="120000"/>
              </a:lnSpc>
            </a:pPr>
            <a:r>
              <a:rPr lang="bg-BG" dirty="0" smtClean="0"/>
              <a:t>Договори с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hlinkClick r:id="rId2"/>
              </a:rPr>
              <a:t>60+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  <a:hlinkClick r:id="rId2"/>
              </a:rPr>
              <a:t>ИТ фирми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 smtClean="0"/>
              <a:t>за наемане на студенти от </a:t>
            </a:r>
            <a:r>
              <a:rPr lang="bg-BG" noProof="1" smtClean="0"/>
              <a:t>СофтУни</a:t>
            </a:r>
          </a:p>
          <a:p>
            <a:pPr lvl="1">
              <a:lnSpc>
                <a:spcPct val="120000"/>
              </a:lnSpc>
            </a:pPr>
            <a:r>
              <a:rPr lang="bg-BG" dirty="0" smtClean="0"/>
              <a:t>Най-силните студенти учат 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безплатно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 smtClean="0"/>
              <a:t>по 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стипендия</a:t>
            </a:r>
            <a:endParaRPr lang="en-US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1">
              <a:lnSpc>
                <a:spcPct val="120000"/>
              </a:lnSpc>
            </a:pP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Топ студентите</a:t>
            </a:r>
            <a:r>
              <a:rPr lang="bg-BG" dirty="0" smtClean="0"/>
              <a:t> избират между много работодатели</a:t>
            </a:r>
            <a:endParaRPr lang="en-US" dirty="0" smtClean="0"/>
          </a:p>
          <a:p>
            <a:pPr lvl="1">
              <a:lnSpc>
                <a:spcPct val="120000"/>
              </a:lnSpc>
            </a:pPr>
            <a:r>
              <a:rPr lang="bg-BG" dirty="0" smtClean="0"/>
              <a:t>Не обещаваме работа за студентите със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слаби резултати</a:t>
            </a: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Работа за завършилите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3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Софтуерен университет (СофтУни)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https://softuni.bg</a:t>
            </a:r>
            <a:endParaRPr lang="en-US" dirty="0"/>
          </a:p>
        </p:txBody>
      </p:sp>
      <p:pic>
        <p:nvPicPr>
          <p:cNvPr id="14" name="Picture 13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612" y="2729472"/>
            <a:ext cx="1726158" cy="932887"/>
          </a:xfrm>
          <a:prstGeom prst="roundRect">
            <a:avLst>
              <a:gd name="adj" fmla="val 2953"/>
            </a:avLst>
          </a:prstGeom>
        </p:spPr>
      </p:pic>
      <p:pic>
        <p:nvPicPr>
          <p:cNvPr id="15" name="Picture 1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64" y="1295401"/>
            <a:ext cx="1752600" cy="804224"/>
          </a:xfrm>
          <a:prstGeom prst="roundRect">
            <a:avLst>
              <a:gd name="adj" fmla="val 3159"/>
            </a:avLst>
          </a:prstGeom>
        </p:spPr>
      </p:pic>
      <p:pic>
        <p:nvPicPr>
          <p:cNvPr id="17" name="Picture 16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8146" y="1295400"/>
            <a:ext cx="2040956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19" name="Picture 18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4428" y="1295400"/>
            <a:ext cx="2093874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20" name="Picture 19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764" y="5373443"/>
            <a:ext cx="3352800" cy="849557"/>
          </a:xfrm>
          <a:prstGeom prst="roundRect">
            <a:avLst>
              <a:gd name="adj" fmla="val 3159"/>
            </a:avLst>
          </a:prstGeom>
        </p:spPr>
      </p:pic>
      <p:pic>
        <p:nvPicPr>
          <p:cNvPr id="22" name="Picture 21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58563" y="5373443"/>
            <a:ext cx="2753589" cy="849556"/>
          </a:xfrm>
          <a:prstGeom prst="roundRect">
            <a:avLst>
              <a:gd name="adj" fmla="val 2953"/>
            </a:avLst>
          </a:prstGeom>
        </p:spPr>
      </p:pic>
      <p:pic>
        <p:nvPicPr>
          <p:cNvPr id="23" name="Picture 22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3728" y="5373443"/>
            <a:ext cx="4073042" cy="849556"/>
          </a:xfrm>
          <a:prstGeom prst="roundRect">
            <a:avLst>
              <a:gd name="adj" fmla="val 3159"/>
            </a:avLst>
          </a:prstGeom>
        </p:spPr>
      </p:pic>
      <p:pic>
        <p:nvPicPr>
          <p:cNvPr id="24" name="Picture 23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5612" y="1316222"/>
            <a:ext cx="3631158" cy="783191"/>
          </a:xfrm>
          <a:prstGeom prst="roundRect">
            <a:avLst>
              <a:gd name="adj" fmla="val 3159"/>
            </a:avLst>
          </a:prstGeom>
        </p:spPr>
      </p:pic>
      <p:pic>
        <p:nvPicPr>
          <p:cNvPr id="25" name="Picture 24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3413" y="4251041"/>
            <a:ext cx="5993358" cy="550371"/>
          </a:xfrm>
          <a:prstGeom prst="roundRect">
            <a:avLst>
              <a:gd name="adj" fmla="val 3159"/>
            </a:avLst>
          </a:prstGeom>
        </p:spPr>
      </p:pic>
    </p:spTree>
    <p:extLst>
      <p:ext uri="{BB962C8B-B14F-4D97-AF65-F5344CB8AC3E}">
        <p14:creationId xmlns:p14="http://schemas.microsoft.com/office/powerpoint/2010/main" val="380239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04426" y="103188"/>
            <a:ext cx="8869723" cy="936625"/>
          </a:xfrm>
        </p:spPr>
        <p:txBody>
          <a:bodyPr>
            <a:normAutofit/>
          </a:bodyPr>
          <a:lstStyle/>
          <a:p>
            <a:r>
              <a:rPr lang="bg-BG" dirty="0" smtClean="0"/>
              <a:t>Безплатни обучения в </a:t>
            </a:r>
            <a:r>
              <a:rPr lang="bg-BG" noProof="1" smtClean="0"/>
              <a:t>СофтУни</a:t>
            </a:r>
            <a:endParaRPr lang="bg-BG" noProof="1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27012" y="1039813"/>
            <a:ext cx="9429532" cy="56388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dirty="0" smtClean="0"/>
              <a:t>Фондация "Софтуерен университет" </a:t>
            </a:r>
            <a:r>
              <a:rPr lang="en-US" sz="3200" dirty="0" smtClean="0"/>
              <a:t>– </a:t>
            </a:r>
            <a:r>
              <a:rPr lang="en-US" sz="3200" noProof="1" smtClean="0">
                <a:hlinkClick r:id="rId3"/>
              </a:rPr>
              <a:t>softuni.org</a:t>
            </a:r>
            <a:endParaRPr lang="en-US" sz="3200" noProof="1" smtClean="0"/>
          </a:p>
          <a:p>
            <a:pPr>
              <a:lnSpc>
                <a:spcPct val="100000"/>
              </a:lnSpc>
            </a:pPr>
            <a:r>
              <a:rPr lang="bg-BG" sz="3200" dirty="0" smtClean="0"/>
              <a:t>Софтуерен университет </a:t>
            </a:r>
            <a:r>
              <a:rPr lang="en-US" sz="3200" dirty="0" smtClean="0"/>
              <a:t>– </a:t>
            </a:r>
            <a:r>
              <a:rPr lang="bg-BG" sz="3200" dirty="0" smtClean="0"/>
              <a:t>качествено образование, професия и работа за софтуерни инженери</a:t>
            </a:r>
            <a:endParaRPr lang="en-US" sz="3200" dirty="0"/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</a:t>
            </a:r>
            <a:r>
              <a:rPr lang="bg-BG" dirty="0" smtClean="0"/>
              <a:t> </a:t>
            </a:r>
            <a:r>
              <a:rPr lang="en-US" dirty="0" smtClean="0"/>
              <a:t>@ 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</a:t>
            </a:r>
            <a:r>
              <a:rPr lang="en-US" dirty="0" smtClean="0"/>
              <a:t> </a:t>
            </a:r>
            <a:r>
              <a:rPr lang="en-US" dirty="0"/>
              <a:t>@ </a:t>
            </a:r>
            <a:r>
              <a:rPr lang="en-US" dirty="0" smtClean="0"/>
              <a:t>YouTube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6"/>
              </a:rPr>
              <a:t>youtube.com/SoftwareUniversity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 форуми</a:t>
            </a:r>
            <a:r>
              <a:rPr lang="en-US" noProof="1" smtClean="0"/>
              <a:t> – </a:t>
            </a:r>
            <a:r>
              <a:rPr lang="en-US" dirty="0">
                <a:hlinkClick r:id="rId7"/>
              </a:rPr>
              <a:t>forum.softuni.bg</a:t>
            </a:r>
            <a:endParaRPr lang="en-US" noProof="1"/>
          </a:p>
        </p:txBody>
      </p:sp>
      <p:pic>
        <p:nvPicPr>
          <p:cNvPr id="10" name="Picture 9" title="Software University Foundation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59" t="-15226" r="-5359" b="-15226"/>
          <a:stretch/>
        </p:blipFill>
        <p:spPr>
          <a:xfrm>
            <a:off x="9510966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 title="Software University @ Facebook">
            <a:hlinkClick r:id="rId9"/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29404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title="Software University Videos @ YouTube">
            <a:hlinkClick r:id="rId6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412" y="4589658"/>
            <a:ext cx="1837868" cy="675261"/>
          </a:xfrm>
          <a:prstGeom prst="rect">
            <a:avLst/>
          </a:prstGeom>
          <a:ln w="25400">
            <a:solidFill>
              <a:schemeClr val="bg1">
                <a:lumMod val="50000"/>
                <a:lumOff val="50000"/>
                <a:alpha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title="Software University - Forum">
            <a:hlinkClick r:id="rId12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202" y="5540172"/>
            <a:ext cx="970156" cy="965726"/>
          </a:xfrm>
          <a:prstGeom prst="rect">
            <a:avLst/>
          </a:prstGeom>
        </p:spPr>
      </p:pic>
      <p:pic>
        <p:nvPicPr>
          <p:cNvPr id="14" name="Picture 13" descr="http://softuni.bg" title="Software University">
            <a:hlinkClick r:id="rId14" tooltip="Software University"/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68" y="1566110"/>
            <a:ext cx="1701050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9" name="Picture 8">
            <a:hlinkClick r:id="rId4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304" y="3093954"/>
            <a:ext cx="2286198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0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3.xml><?xml version="1.0" encoding="utf-8"?>
<a:theme xmlns:a="http://schemas.openxmlformats.org/drawingml/2006/main" name="2_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583</Words>
  <Application>Microsoft Office PowerPoint</Application>
  <PresentationFormat>Custom</PresentationFormat>
  <Paragraphs>167</Paragraphs>
  <Slides>11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1_SoftUni 16x9</vt:lpstr>
      <vt:lpstr>SoftUni 16x9</vt:lpstr>
      <vt:lpstr>2_SoftUni 16x9</vt:lpstr>
      <vt:lpstr>Софтуерен университет</vt:lpstr>
      <vt:lpstr>Диамантени партньори на СофтУни</vt:lpstr>
      <vt:lpstr>Добре дошли в СофтУни</vt:lpstr>
      <vt:lpstr>Учебен план</vt:lpstr>
      <vt:lpstr>Technologies Module</vt:lpstr>
      <vt:lpstr>Професии JavaScript и PHP Developer</vt:lpstr>
      <vt:lpstr>Професии C# и Java Web Developer</vt:lpstr>
      <vt:lpstr>Дипломи и сертификати</vt:lpstr>
      <vt:lpstr>Работа за завършилите</vt:lpstr>
      <vt:lpstr>Софтуерен университет (СофтУни)</vt:lpstr>
      <vt:lpstr>Безплатни обучения в СофтУни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Добре дошли в СофтУни</dc:title>
  <dc:subject>C# Basics Course</dc:subject>
  <dc:creator/>
  <cp:keywords>Software University, SoftUni, courses, curriculum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2016-04-21T13:57:40Z</dcterms:modified>
  <cp:category>Software University, SoftUni, courses, curriculum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