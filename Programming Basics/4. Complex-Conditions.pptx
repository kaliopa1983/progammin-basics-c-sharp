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42"/>
  </p:notesMasterIdLst>
  <p:handoutMasterIdLst>
    <p:handoutMasterId r:id="rId43"/>
  </p:handoutMasterIdLst>
  <p:sldIdLst>
    <p:sldId id="274" r:id="rId3"/>
    <p:sldId id="276" r:id="rId4"/>
    <p:sldId id="420" r:id="rId5"/>
    <p:sldId id="415" r:id="rId6"/>
    <p:sldId id="418" r:id="rId7"/>
    <p:sldId id="426" r:id="rId8"/>
    <p:sldId id="436" r:id="rId9"/>
    <p:sldId id="434" r:id="rId10"/>
    <p:sldId id="421" r:id="rId11"/>
    <p:sldId id="431" r:id="rId12"/>
    <p:sldId id="438" r:id="rId13"/>
    <p:sldId id="432" r:id="rId14"/>
    <p:sldId id="439" r:id="rId15"/>
    <p:sldId id="453" r:id="rId16"/>
    <p:sldId id="433" r:id="rId17"/>
    <p:sldId id="454" r:id="rId18"/>
    <p:sldId id="451" r:id="rId19"/>
    <p:sldId id="452" r:id="rId20"/>
    <p:sldId id="441" r:id="rId21"/>
    <p:sldId id="427" r:id="rId22"/>
    <p:sldId id="428" r:id="rId23"/>
    <p:sldId id="429" r:id="rId24"/>
    <p:sldId id="417" r:id="rId25"/>
    <p:sldId id="455" r:id="rId26"/>
    <p:sldId id="456" r:id="rId27"/>
    <p:sldId id="457" r:id="rId28"/>
    <p:sldId id="442" r:id="rId29"/>
    <p:sldId id="422" r:id="rId30"/>
    <p:sldId id="423" r:id="rId31"/>
    <p:sldId id="443" r:id="rId32"/>
    <p:sldId id="446" r:id="rId33"/>
    <p:sldId id="447" r:id="rId34"/>
    <p:sldId id="444" r:id="rId35"/>
    <p:sldId id="448" r:id="rId36"/>
    <p:sldId id="449" r:id="rId37"/>
    <p:sldId id="349" r:id="rId38"/>
    <p:sldId id="412" r:id="rId39"/>
    <p:sldId id="413" r:id="rId40"/>
    <p:sldId id="414" r:id="rId4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97CC"/>
    <a:srgbClr val="FFF0D9"/>
    <a:srgbClr val="FFA72A"/>
    <a:srgbClr val="F0F5FA"/>
    <a:srgbClr val="1A8AFA"/>
    <a:srgbClr val="FDFFFF"/>
    <a:srgbClr val="603A14"/>
    <a:srgbClr val="E85C0E"/>
    <a:srgbClr val="BAB398"/>
    <a:srgbClr val="ADA485"/>
  </p:clrMru>
  <p:extLst>
    <p:ext uri="{E76CE94A-603C-4142-B9EB-6D1370010A27}">
      <p14:discardImageEditData xmlns="" xmlns:p14="http://schemas.microsoft.com/office/powerpoint/2010/main" val="1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4" autoAdjust="0"/>
    <p:restoredTop sz="94533" autoAdjust="0"/>
  </p:normalViewPr>
  <p:slideViewPr>
    <p:cSldViewPr>
      <p:cViewPr varScale="1">
        <p:scale>
          <a:sx n="75" d="100"/>
          <a:sy n="75" d="100"/>
        </p:scale>
        <p:origin x="-126" y="-84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1/27/2017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=""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1/27/2017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 smtClean="0"/>
              <a:t>© Software University Foundation – </a:t>
            </a:r>
            <a:r>
              <a:rPr lang="en-US" sz="1000" u="sng" dirty="0" smtClean="0">
                <a:hlinkClick r:id="rId2"/>
              </a:rPr>
              <a:t>http://softuni.org</a:t>
            </a:r>
            <a:endParaRPr lang="en-US" sz="1000" dirty="0" smtClean="0"/>
          </a:p>
          <a:p>
            <a:r>
              <a:rPr lang="en-US" sz="1000" dirty="0" smtClean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14151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34749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04961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>
                <a:solidFill>
                  <a:prstClr val="black"/>
                </a:solidFill>
              </a:rPr>
              <a:t>© Software University Foundation – </a:t>
            </a:r>
            <a:r>
              <a:rPr lang="en-US" sz="1000" u="sng" smtClean="0">
                <a:solidFill>
                  <a:prstClr val="black"/>
                </a:solidFill>
                <a:hlinkClick r:id="rId3"/>
              </a:rPr>
              <a:t>http://softuni.org</a:t>
            </a:r>
            <a:endParaRPr lang="en-US" sz="1000" smtClean="0">
              <a:solidFill>
                <a:prstClr val="black"/>
              </a:solidFill>
            </a:endParaRPr>
          </a:p>
          <a:p>
            <a:r>
              <a:rPr lang="en-US" sz="1000" smtClean="0">
                <a:solidFill>
                  <a:prstClr val="black"/>
                </a:solidFill>
              </a:rPr>
              <a:t>This work is licensed under the </a:t>
            </a:r>
            <a:r>
              <a:rPr lang="en-US" sz="1000" u="sng" noProof="1" smtClean="0">
                <a:solidFill>
                  <a:prstClr val="black"/>
                </a:solidFill>
                <a:hlinkClick r:id="rId4"/>
              </a:rPr>
              <a:t>Creative Commons Attribution-NonCommercial-ShareAlike</a:t>
            </a:r>
            <a:r>
              <a:rPr lang="en-US" sz="1000" noProof="1" smtClean="0">
                <a:solidFill>
                  <a:prstClr val="black"/>
                </a:solidFill>
              </a:rPr>
              <a:t> </a:t>
            </a:r>
            <a:r>
              <a:rPr lang="en-US" sz="1000" smtClean="0">
                <a:solidFill>
                  <a:prstClr val="black"/>
                </a:solidFill>
              </a:rPr>
              <a:t>license.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93958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60940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67160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judge.softuni.bg/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hyperlink" Target="http://forum.softuni.bg/" TargetMode="External"/><Relationship Id="rId12" Type="http://schemas.openxmlformats.org/officeDocument/2006/relationships/hyperlink" Target="http://www.introprogramming.info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nakov.com/" TargetMode="External"/><Relationship Id="rId11" Type="http://schemas.openxmlformats.org/officeDocument/2006/relationships/hyperlink" Target="http://www.youtube.com/SoftwareUniversity" TargetMode="External"/><Relationship Id="rId5" Type="http://schemas.openxmlformats.org/officeDocument/2006/relationships/hyperlink" Target="http://softuni.org/" TargetMode="External"/><Relationship Id="rId10" Type="http://schemas.openxmlformats.org/officeDocument/2006/relationships/hyperlink" Target="https://twitter.com/softunibg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hyperlink" Target="https://www.facebook.com/SoftwareUniversity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Web Site</a:t>
            </a:r>
            <a:endParaRPr lang="en-US" dirty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Name</a:t>
            </a:r>
            <a:endParaRPr lang="en-US" dirty="0"/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Web Site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1/27/2017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Slide Title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2813" y="4953000"/>
            <a:ext cx="10363200" cy="820600"/>
          </a:xfrm>
        </p:spPr>
        <p:txBody>
          <a:bodyPr wrap="square"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 smtClean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2813" y="5754968"/>
            <a:ext cx="10363200" cy="719034"/>
          </a:xfrm>
        </p:spPr>
        <p:txBody>
          <a:bodyPr wrap="square"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Section Subtitle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 cstate="print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 smtClean="0"/>
              <a:t>Course Web Site</a:t>
            </a:r>
            <a:endParaRPr lang="en-US" dirty="0"/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8412" y="261000"/>
            <a:ext cx="2050131" cy="670675"/>
          </a:xfrm>
          <a:prstGeom prst="rect">
            <a:avLst/>
          </a:prstGeom>
        </p:spPr>
      </p:pic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2" name="TextBox 1">
            <a:hlinkClick r:id="rId4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27" name="TextBox 26">
            <a:hlinkClick r:id="rId5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51" name="TextBox 50">
            <a:hlinkClick r:id="rId6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2" name="TextBox 51">
            <a:hlinkClick r:id="rId7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3" name="TextBox 52">
            <a:hlinkClick r:id="rId8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solidFill>
                  <a:srgbClr val="603A14"/>
                </a:solidFill>
              </a:rPr>
              <a:t>?</a:t>
            </a:r>
            <a:endParaRPr lang="en-US" sz="1800" b="1" dirty="0">
              <a:solidFill>
                <a:srgbClr val="603A14"/>
              </a:solidFill>
            </a:endParaRPr>
          </a:p>
        </p:txBody>
      </p:sp>
      <p:sp>
        <p:nvSpPr>
          <p:cNvPr id="54" name="TextBox 53">
            <a:hlinkClick r:id="rId9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603A14"/>
                </a:solidFill>
              </a:rPr>
              <a:t>?</a:t>
            </a:r>
            <a:endParaRPr lang="en-US" sz="2400" b="1" dirty="0">
              <a:solidFill>
                <a:srgbClr val="603A14"/>
              </a:solidFill>
            </a:endParaRPr>
          </a:p>
        </p:txBody>
      </p:sp>
      <p:sp>
        <p:nvSpPr>
          <p:cNvPr id="56" name="TextBox 55">
            <a:hlinkClick r:id="rId10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7" name="TextBox 56">
            <a:hlinkClick r:id="rId11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8" name="TextBox 57">
            <a:hlinkClick r:id="rId12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 rot="20967714">
            <a:off x="457076" y="2405125"/>
            <a:ext cx="2338944" cy="2395502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bg-BG" sz="6600" b="1" kern="1200" noProof="0" dirty="0" smtClean="0">
                <a:solidFill>
                  <a:srgbClr val="F3BE60"/>
                </a:solidFill>
                <a:latin typeface="+mj-lt"/>
                <a:ea typeface="+mj-ea"/>
                <a:cs typeface="+mj-cs"/>
              </a:rPr>
              <a:t>Въпроси</a:t>
            </a:r>
            <a:r>
              <a:rPr lang="en-US" sz="6600" b="1" kern="1200" noProof="0" dirty="0" smtClean="0">
                <a:solidFill>
                  <a:srgbClr val="F3BE60"/>
                </a:solidFill>
                <a:latin typeface="+mj-lt"/>
                <a:ea typeface="+mj-ea"/>
                <a:cs typeface="+mj-cs"/>
              </a:rPr>
              <a:t>?</a:t>
            </a:r>
            <a:endParaRPr lang="en-US" sz="6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8879962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1/27/2017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  <p:sldLayoutId id="2147483672" r:id="rId5"/>
  </p:sldLayoutIdLst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softuni.bg/" TargetMode="External"/><Relationship Id="rId3" Type="http://schemas.openxmlformats.org/officeDocument/2006/relationships/hyperlink" Target="http://creativecommons.org/licenses/by-nc-sa/4.0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oftuni.org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5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5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judge.softuni.bg/Contests/Practice/Index/153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5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5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bg/Contests/Practice/Index/153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53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53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53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53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://komfo.com/" TargetMode="External"/><Relationship Id="rId13" Type="http://schemas.openxmlformats.org/officeDocument/2006/relationships/image" Target="../media/image34.png"/><Relationship Id="rId18" Type="http://schemas.openxmlformats.org/officeDocument/2006/relationships/hyperlink" Target="http://netpeak.bg/" TargetMode="External"/><Relationship Id="rId3" Type="http://schemas.openxmlformats.org/officeDocument/2006/relationships/hyperlink" Target="https://softuni.bg/courses/programming-basics/" TargetMode="External"/><Relationship Id="rId21" Type="http://schemas.openxmlformats.org/officeDocument/2006/relationships/image" Target="../media/image38.png"/><Relationship Id="rId7" Type="http://schemas.openxmlformats.org/officeDocument/2006/relationships/image" Target="../media/image31.png"/><Relationship Id="rId12" Type="http://schemas.openxmlformats.org/officeDocument/2006/relationships/hyperlink" Target="http://www.softwaregroup-bg.com/" TargetMode="External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6" Type="http://schemas.openxmlformats.org/officeDocument/2006/relationships/hyperlink" Target="http://www.infragistics.com/" TargetMode="External"/><Relationship Id="rId20" Type="http://schemas.openxmlformats.org/officeDocument/2006/relationships/hyperlink" Target="http://www.superhosting.bg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xs-software.com/" TargetMode="External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5" Type="http://schemas.openxmlformats.org/officeDocument/2006/relationships/image" Target="../media/image35.png"/><Relationship Id="rId10" Type="http://schemas.openxmlformats.org/officeDocument/2006/relationships/hyperlink" Target="http://smartit.bg/" TargetMode="External"/><Relationship Id="rId19" Type="http://schemas.openxmlformats.org/officeDocument/2006/relationships/image" Target="../media/image37.png"/><Relationship Id="rId4" Type="http://schemas.openxmlformats.org/officeDocument/2006/relationships/hyperlink" Target="http://www.luxoft.com/" TargetMode="External"/><Relationship Id="rId9" Type="http://schemas.openxmlformats.org/officeDocument/2006/relationships/image" Target="../media/image32.png"/><Relationship Id="rId14" Type="http://schemas.openxmlformats.org/officeDocument/2006/relationships/hyperlink" Target="http://www.indeavr.com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hyperlink" Target="http://www.introprogramming.info/intro-csharp-book/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42.png"/><Relationship Id="rId3" Type="http://schemas.openxmlformats.org/officeDocument/2006/relationships/hyperlink" Target="http://softuni.org/" TargetMode="External"/><Relationship Id="rId7" Type="http://schemas.openxmlformats.org/officeDocument/2006/relationships/hyperlink" Target="http://forum.softuni.bg/" TargetMode="External"/><Relationship Id="rId12" Type="http://schemas.openxmlformats.org/officeDocument/2006/relationships/hyperlink" Target="https://softuni.bg/forum" TargetMode="Externa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youtube.com/SoftwareUniversity" TargetMode="External"/><Relationship Id="rId11" Type="http://schemas.openxmlformats.org/officeDocument/2006/relationships/image" Target="../media/image41.png"/><Relationship Id="rId5" Type="http://schemas.openxmlformats.org/officeDocument/2006/relationships/hyperlink" Target="https://www.facebook.com/SoftwareUniversity" TargetMode="External"/><Relationship Id="rId15" Type="http://schemas.openxmlformats.org/officeDocument/2006/relationships/image" Target="../media/image43.png"/><Relationship Id="rId10" Type="http://schemas.openxmlformats.org/officeDocument/2006/relationships/image" Target="../media/image40.png"/><Relationship Id="rId4" Type="http://schemas.openxmlformats.org/officeDocument/2006/relationships/hyperlink" Target="http://softuni.bg/" TargetMode="External"/><Relationship Id="rId9" Type="http://schemas.openxmlformats.org/officeDocument/2006/relationships/hyperlink" Target="http://www.facebook.com/SoftwareUniversity" TargetMode="External"/><Relationship Id="rId1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579812" y="762000"/>
            <a:ext cx="7910299" cy="1095352"/>
          </a:xfrm>
        </p:spPr>
        <p:txBody>
          <a:bodyPr>
            <a:normAutofit/>
          </a:bodyPr>
          <a:lstStyle/>
          <a:p>
            <a:r>
              <a:rPr lang="bg-BG" dirty="0" smtClean="0"/>
              <a:t>По-сложни проверки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579812" y="1937601"/>
            <a:ext cx="7910299" cy="1311301"/>
          </a:xfrm>
        </p:spPr>
        <p:txBody>
          <a:bodyPr>
            <a:normAutofit/>
          </a:bodyPr>
          <a:lstStyle/>
          <a:p>
            <a:r>
              <a:rPr lang="bg-BG" dirty="0" smtClean="0"/>
              <a:t>Вложени </a:t>
            </a:r>
            <a:r>
              <a:rPr lang="en-US" dirty="0" smtClean="0"/>
              <a:t>if </a:t>
            </a:r>
            <a:r>
              <a:rPr lang="bg-BG" dirty="0" smtClean="0"/>
              <a:t>конструкции и</a:t>
            </a:r>
            <a:br>
              <a:rPr lang="bg-BG" dirty="0" smtClean="0"/>
            </a:br>
            <a:r>
              <a:rPr lang="bg-BG" dirty="0" smtClean="0"/>
              <a:t>по-сложни логически условия</a:t>
            </a:r>
            <a:endParaRPr lang="en-US" dirty="0"/>
          </a:p>
        </p:txBody>
      </p:sp>
      <p:pic>
        <p:nvPicPr>
          <p:cNvPr id="1028" name="Picture 4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5783" y="3219091"/>
            <a:ext cx="2175525" cy="76116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  <a:extLst/>
        </p:spPr>
      </p:pic>
      <p:pic>
        <p:nvPicPr>
          <p:cNvPr id="13" name="Picture 12" descr="http://softuni.b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10236" y="3906914"/>
            <a:ext cx="2133598" cy="23414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576164">
            <a:off x="5762218" y="3962196"/>
            <a:ext cx="1527983" cy="409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bg-BG" b="1" spc="50" dirty="0" smtClean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проверки</a:t>
            </a:r>
            <a:endParaRPr lang="en-US" b="1" spc="50" dirty="0">
              <a:ln w="9525" cmpd="sng">
                <a:solidFill>
                  <a:srgbClr val="FFA72A"/>
                </a:solidFill>
                <a:prstDash val="solid"/>
              </a:ln>
              <a:solidFill>
                <a:srgbClr val="FFF0D9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17" name="Picture 16" descr="http://softuni.org">
            <a:hlinkClick r:id="rId6" tooltip="Software University Foundation"/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l="-5359" t="-15226" r="-5359" b="-15226"/>
          <a:stretch/>
        </p:blipFill>
        <p:spPr>
          <a:xfrm>
            <a:off x="745783" y="2057400"/>
            <a:ext cx="2175525" cy="83855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sp>
        <p:nvSpPr>
          <p:cNvPr id="23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84212" y="4604899"/>
            <a:ext cx="3187613" cy="525135"/>
          </a:xfrm>
        </p:spPr>
        <p:txBody>
          <a:bodyPr/>
          <a:lstStyle/>
          <a:p>
            <a:r>
              <a:rPr lang="bg-BG" noProof="1" smtClean="0"/>
              <a:t>СофтУни</a:t>
            </a:r>
            <a:endParaRPr lang="en-US" noProof="1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84213" y="5074798"/>
            <a:ext cx="3187614" cy="444343"/>
          </a:xfrm>
        </p:spPr>
        <p:txBody>
          <a:bodyPr/>
          <a:lstStyle/>
          <a:p>
            <a:r>
              <a:rPr lang="bg-BG" noProof="1" smtClean="0"/>
              <a:t>трейнърски</a:t>
            </a:r>
            <a:r>
              <a:rPr lang="bg-BG" dirty="0" smtClean="0"/>
              <a:t> екип</a:t>
            </a:r>
            <a:endParaRPr lang="en-US" dirty="0"/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684212" y="5479925"/>
            <a:ext cx="3187613" cy="382788"/>
          </a:xfrm>
        </p:spPr>
        <p:txBody>
          <a:bodyPr/>
          <a:lstStyle/>
          <a:p>
            <a:r>
              <a:rPr lang="bg-BG" sz="2000" dirty="0" smtClean="0"/>
              <a:t>Софтуерен университет</a:t>
            </a:r>
            <a:endParaRPr lang="en-US" sz="2000" dirty="0"/>
          </a:p>
        </p:txBody>
      </p:sp>
      <p:sp>
        <p:nvSpPr>
          <p:cNvPr id="26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684212" y="5820446"/>
            <a:ext cx="3187613" cy="351754"/>
          </a:xfrm>
        </p:spPr>
        <p:txBody>
          <a:bodyPr/>
          <a:lstStyle/>
          <a:p>
            <a:r>
              <a:rPr lang="en-US" sz="1800" dirty="0">
                <a:hlinkClick r:id="rId8"/>
              </a:rPr>
              <a:t>http://</a:t>
            </a:r>
            <a:r>
              <a:rPr lang="en-US" sz="1800" dirty="0" smtClean="0">
                <a:hlinkClick r:id="rId8"/>
              </a:rPr>
              <a:t>softuni.bg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819715" y="3691987"/>
            <a:ext cx="3618765" cy="2479312"/>
          </a:xfrm>
          <a:prstGeom prst="roundRect">
            <a:avLst>
              <a:gd name="adj" fmla="val 704"/>
            </a:avLst>
          </a:prstGeom>
        </p:spPr>
      </p:pic>
    </p:spTree>
    <p:extLst>
      <p:ext uri="{BB962C8B-B14F-4D97-AF65-F5344CB8AC3E}">
        <p14:creationId xmlns="" xmlns:p14="http://schemas.microsoft.com/office/powerpoint/2010/main" val="321537939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Съдържание</a:t>
            </a:r>
            <a:endParaRPr lang="bg-BG" dirty="0"/>
          </a:p>
        </p:txBody>
      </p:sp>
      <p:sp>
        <p:nvSpPr>
          <p:cNvPr id="444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0415" y="1191467"/>
            <a:ext cx="6742197" cy="553001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bg-BG" dirty="0" smtClean="0"/>
              <a:t>Вложени проверки</a:t>
            </a:r>
            <a:endParaRPr lang="en-US" dirty="0" smtClean="0"/>
          </a:p>
          <a:p>
            <a:pPr marL="723900" lvl="1" indent="-420688"/>
            <a:r>
              <a:rPr lang="bg-BG" dirty="0"/>
              <a:t>Задачи </a:t>
            </a:r>
            <a:r>
              <a:rPr lang="bg-BG" dirty="0" smtClean="0"/>
              <a:t>с вложени проверки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 smtClean="0"/>
              <a:t>По-сложни проверки</a:t>
            </a:r>
          </a:p>
          <a:p>
            <a:pPr marL="723900" lvl="1" indent="-420688"/>
            <a:r>
              <a:rPr lang="bg-BG" dirty="0" smtClean="0"/>
              <a:t>Логическо "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и</a:t>
            </a:r>
            <a:r>
              <a:rPr lang="bg-BG" dirty="0" smtClean="0"/>
              <a:t>", логическо "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или</a:t>
            </a:r>
            <a:r>
              <a:rPr lang="bg-BG" dirty="0" smtClean="0"/>
              <a:t>", логическо 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отрицание</a:t>
            </a:r>
            <a:r>
              <a:rPr lang="bg-BG" dirty="0" smtClean="0"/>
              <a:t> и 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</a:rPr>
              <a:t>скоби</a:t>
            </a:r>
          </a:p>
          <a:p>
            <a:pPr marL="723900" lvl="1" indent="-420688"/>
            <a:r>
              <a:rPr lang="bg-BG" dirty="0" smtClean="0"/>
              <a:t>Задачи със сложни проверки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 smtClean="0"/>
              <a:t>Точка и правоъгълник – графично (</a:t>
            </a:r>
            <a:r>
              <a:rPr lang="en-US" dirty="0" smtClean="0"/>
              <a:t>GUI) </a:t>
            </a:r>
            <a:r>
              <a:rPr lang="bg-BG" dirty="0" smtClean="0"/>
              <a:t>приложение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80030" y="1271366"/>
            <a:ext cx="3800782" cy="490083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4800600"/>
            <a:ext cx="10363200" cy="820600"/>
          </a:xfrm>
        </p:spPr>
        <p:txBody>
          <a:bodyPr/>
          <a:lstStyle/>
          <a:p>
            <a:r>
              <a:rPr lang="bg-BG" dirty="0" smtClean="0"/>
              <a:t>Вложени проверки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912813" y="5651472"/>
            <a:ext cx="10363200" cy="719034"/>
          </a:xfrm>
        </p:spPr>
        <p:txBody>
          <a:bodyPr/>
          <a:lstStyle/>
          <a:p>
            <a:r>
              <a:rPr lang="en-US" dirty="0" smtClean="0"/>
              <a:t>If-</a:t>
            </a:r>
            <a:r>
              <a:rPr lang="bg-BG" dirty="0" smtClean="0"/>
              <a:t>конструкции, вложени една в друга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64777" y="1219200"/>
            <a:ext cx="2859272" cy="3334801"/>
          </a:xfrm>
          <a:prstGeom prst="rect">
            <a:avLst/>
          </a:prstGeom>
        </p:spPr>
      </p:pic>
      <p:pic>
        <p:nvPicPr>
          <p:cNvPr id="3076" name="Picture 4" descr="http://findicons.com/files/icons/1671/simplicio/128/notification_don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2" y="1896000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en.opensuse.org/images/thumb/3/3b/Icon-warning.png/120px-Icon-warnin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130" y="1872116"/>
            <a:ext cx="2242682" cy="22426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7249657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Конструкциите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dirty="0" smtClean="0"/>
              <a:t>-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bg-BG" dirty="0" smtClean="0"/>
              <a:t> могат да се влагат една в друга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Вложени проверки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912812" y="2059460"/>
            <a:ext cx="10363200" cy="4305794"/>
            <a:chOff x="912812" y="2059460"/>
            <a:chExt cx="10363200" cy="4305794"/>
          </a:xfrm>
        </p:grpSpPr>
        <p:sp>
          <p:nvSpPr>
            <p:cNvPr id="10" name="Rectangle 9"/>
            <p:cNvSpPr/>
            <p:nvPr/>
          </p:nvSpPr>
          <p:spPr>
            <a:xfrm>
              <a:off x="1446212" y="3069608"/>
              <a:ext cx="9095096" cy="220155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28575">
              <a:solidFill>
                <a:schemeClr val="tx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912812" y="2059460"/>
              <a:ext cx="10363200" cy="4305794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 smtClean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if</a:t>
              </a:r>
              <a:r>
                <a:rPr lang="en-US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(condition1)</a:t>
              </a:r>
              <a:endPara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  <a:p>
              <a:pPr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{</a:t>
              </a:r>
            </a:p>
            <a:p>
              <a:pPr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 smtClean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bg-BG" sz="2800" b="1" noProof="1" smtClean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</a:t>
              </a:r>
              <a:r>
                <a:rPr lang="en-US" sz="2800" b="1" noProof="1" smtClean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if</a:t>
              </a:r>
              <a:r>
                <a:rPr lang="en-US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(condition2)</a:t>
              </a:r>
            </a:p>
            <a:p>
              <a:pPr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</a:t>
              </a:r>
              <a:r>
                <a:rPr lang="en-US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bg-BG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Console.WriteLine("condition2 valid");</a:t>
              </a:r>
              <a:endPara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  <a:p>
              <a:pPr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bg-BG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</a:t>
              </a:r>
              <a:r>
                <a:rPr lang="en-US" sz="2800" b="1" noProof="1" smtClean="0">
                  <a:solidFill>
                    <a:schemeClr val="tx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else</a:t>
              </a:r>
            </a:p>
            <a:p>
              <a:pPr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</a:t>
              </a:r>
              <a:r>
                <a:rPr lang="bg-BG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  Console.WriteLine</a:t>
              </a:r>
              <a:r>
                <a:rPr lang="en-US" sz="2800" b="1" noProof="1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("</a:t>
              </a:r>
              <a:r>
                <a:rPr lang="en-US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condition2 not valid");</a:t>
              </a:r>
            </a:p>
            <a:p>
              <a:pPr eaLnBrk="0" hangingPunct="0">
                <a:lnSpc>
                  <a:spcPct val="120000"/>
                </a:lnSpc>
                <a:spcBef>
                  <a:spcPts val="600"/>
                </a:spcBef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</a:t>
              </a:r>
              <a:r>
                <a:rPr lang="en-US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sz="2800" b="1" noProof="1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Console.WriteLine("condition1 valid</a:t>
              </a:r>
              <a:r>
                <a:rPr lang="en-US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");</a:t>
              </a:r>
            </a:p>
            <a:p>
              <a:pPr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}</a:t>
              </a:r>
              <a:endPara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270612" y="2371854"/>
            <a:ext cx="2576400" cy="1057146"/>
          </a:xfrm>
          <a:prstGeom prst="wedgeRoundRectCallout">
            <a:avLst>
              <a:gd name="adj1" fmla="val -73956"/>
              <a:gd name="adj2" fmla="val 40199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Вложена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if</a:t>
            </a:r>
            <a:r>
              <a:rPr lang="en-US" sz="2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конструкция</a:t>
            </a:r>
            <a:endParaRPr lang="bg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277124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13" y="1066800"/>
            <a:ext cx="5903999" cy="557035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bg-BG" sz="3500" dirty="0" smtClean="0"/>
              <a:t>Според въведени </a:t>
            </a:r>
            <a:r>
              <a:rPr lang="bg-BG" sz="3500" b="1" dirty="0" smtClean="0">
                <a:solidFill>
                  <a:schemeClr val="tx2">
                    <a:lumMod val="75000"/>
                  </a:schemeClr>
                </a:solidFill>
              </a:rPr>
              <a:t>възраст</a:t>
            </a:r>
            <a:r>
              <a:rPr lang="bg-BG" sz="3500" dirty="0" smtClean="0"/>
              <a:t> и </a:t>
            </a:r>
            <a:r>
              <a:rPr lang="bg-BG" sz="3500" b="1" dirty="0" smtClean="0">
                <a:solidFill>
                  <a:schemeClr val="tx2">
                    <a:lumMod val="75000"/>
                  </a:schemeClr>
                </a:solidFill>
              </a:rPr>
              <a:t>пол</a:t>
            </a:r>
            <a:r>
              <a:rPr lang="bg-BG" sz="3500" dirty="0" smtClean="0"/>
              <a:t> (</a:t>
            </a:r>
            <a:r>
              <a:rPr lang="en-US" sz="35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m</a:t>
            </a:r>
            <a:r>
              <a:rPr lang="en-US" sz="3500" dirty="0" smtClean="0"/>
              <a:t> / </a:t>
            </a:r>
            <a:r>
              <a:rPr lang="en-US" sz="35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sz="3500" dirty="0" smtClean="0"/>
              <a:t>)</a:t>
            </a:r>
            <a:r>
              <a:rPr lang="bg-BG" sz="3500" dirty="0" smtClean="0"/>
              <a:t> да се отпечата обръщение:</a:t>
            </a:r>
          </a:p>
          <a:p>
            <a:pPr lvl="1">
              <a:lnSpc>
                <a:spcPct val="110000"/>
              </a:lnSpc>
            </a:pPr>
            <a:r>
              <a:rPr lang="en-US" sz="3000" dirty="0"/>
              <a:t>“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Mr.</a:t>
            </a:r>
            <a:r>
              <a:rPr lang="en-US" sz="3000" dirty="0"/>
              <a:t>” – </a:t>
            </a:r>
            <a:r>
              <a:rPr lang="bg-BG" sz="3000" dirty="0"/>
              <a:t>мъж (пол </a:t>
            </a:r>
            <a:r>
              <a:rPr lang="en-US" sz="3000" dirty="0"/>
              <a:t>“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m</a:t>
            </a:r>
            <a:r>
              <a:rPr lang="en-US" sz="3000" dirty="0"/>
              <a:t>”) </a:t>
            </a:r>
            <a:r>
              <a:rPr lang="bg-BG" sz="3000" dirty="0"/>
              <a:t>на 16 или повече години</a:t>
            </a:r>
            <a:endParaRPr lang="en-US" sz="30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“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Master</a:t>
            </a:r>
            <a:r>
              <a:rPr lang="en-US" sz="3000" dirty="0"/>
              <a:t>” </a:t>
            </a:r>
            <a:r>
              <a:rPr lang="bg-BG" sz="3000" dirty="0"/>
              <a:t>– момче (пол </a:t>
            </a:r>
            <a:r>
              <a:rPr lang="en-US" sz="3000" dirty="0"/>
              <a:t>“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m</a:t>
            </a:r>
            <a:r>
              <a:rPr lang="en-US" sz="3000" dirty="0"/>
              <a:t>”) </a:t>
            </a:r>
            <a:r>
              <a:rPr lang="bg-BG" sz="3000" dirty="0"/>
              <a:t>под 16 години</a:t>
            </a:r>
            <a:endParaRPr lang="en-US" sz="30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“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Ms.</a:t>
            </a:r>
            <a:r>
              <a:rPr lang="en-US" sz="3000" dirty="0"/>
              <a:t>” </a:t>
            </a:r>
            <a:r>
              <a:rPr lang="bg-BG" sz="3000" dirty="0"/>
              <a:t>– жена (пол </a:t>
            </a:r>
            <a:r>
              <a:rPr lang="en-US" sz="3000" dirty="0"/>
              <a:t>“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sz="3000" dirty="0"/>
              <a:t>”) </a:t>
            </a:r>
            <a:r>
              <a:rPr lang="bg-BG" sz="3000" dirty="0"/>
              <a:t>на 16 или повече години</a:t>
            </a:r>
            <a:endParaRPr lang="en-US" sz="30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“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Miss</a:t>
            </a:r>
            <a:r>
              <a:rPr lang="en-US" sz="3000" dirty="0"/>
              <a:t>” </a:t>
            </a:r>
            <a:r>
              <a:rPr lang="bg-BG" sz="3000" dirty="0"/>
              <a:t>– момиче (пол </a:t>
            </a:r>
            <a:r>
              <a:rPr lang="en-US" sz="3000" dirty="0"/>
              <a:t>“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sz="3000" dirty="0"/>
              <a:t>”)</a:t>
            </a:r>
            <a:r>
              <a:rPr lang="bg-BG" sz="3000" dirty="0"/>
              <a:t> под 16 </a:t>
            </a:r>
            <a:r>
              <a:rPr lang="bg-BG" sz="3000" dirty="0" smtClean="0"/>
              <a:t>години</a:t>
            </a:r>
            <a:endParaRPr lang="en-US" sz="3200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800" dirty="0"/>
              <a:t>Пример: </a:t>
            </a:r>
            <a:r>
              <a:rPr lang="ru-RU" sz="3800" dirty="0"/>
              <a:t>Обръщение според възраст и пол</a:t>
            </a:r>
            <a:endParaRPr lang="en-US" sz="3800" dirty="0"/>
          </a:p>
        </p:txBody>
      </p:sp>
      <p:pic>
        <p:nvPicPr>
          <p:cNvPr id="1026" name="Picture 2" descr="http://www.vbbootcamp.co.uk/wp-content/uploads/2013/06/nested-if-statement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509" t="-3216" r="-1509" b="-3216"/>
          <a:stretch/>
        </p:blipFill>
        <p:spPr bwMode="auto">
          <a:xfrm>
            <a:off x="6248410" y="2364399"/>
            <a:ext cx="5309990" cy="3975796"/>
          </a:xfrm>
          <a:prstGeom prst="roundRect">
            <a:avLst>
              <a:gd name="adj" fmla="val 621"/>
            </a:avLst>
          </a:prstGeom>
          <a:solidFill>
            <a:schemeClr val="tx1"/>
          </a:solidFill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675195" y="1152571"/>
            <a:ext cx="629117" cy="89255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12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618412" y="1151121"/>
            <a:ext cx="990600" cy="89400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Miss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218612" y="1152571"/>
            <a:ext cx="629117" cy="89255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16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0152431" y="1151121"/>
            <a:ext cx="990600" cy="89400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Mr.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5646736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800" dirty="0" smtClean="0"/>
              <a:t>Решение: </a:t>
            </a:r>
            <a:r>
              <a:rPr lang="ru-RU" sz="3800" dirty="0"/>
              <a:t>Обръщение според възраст и пол</a:t>
            </a:r>
            <a:endParaRPr lang="en-US" sz="3800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60412" y="1112706"/>
            <a:ext cx="10668000" cy="489364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age = double.Parse(Console.ReadLine());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gender = Console.ReadLine();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(age &lt; 16)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(gender == "m") Console.WriteLine("Master");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if (gender == "f") Console.WriteLine("Miss");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bg-BG" sz="2600" b="1" noProof="1" smtClean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</a:t>
            </a:r>
            <a:endParaRPr lang="en-US" sz="26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(gender == "m") Console.WriteLine("Mr.");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(gender == "f") Console.WriteLine("Ms.");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6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0412" y="6185647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judge.softuni.bg/Contests/Practice/Index/153#0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1591991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66800"/>
            <a:ext cx="11804822" cy="5570355"/>
          </a:xfrm>
        </p:spPr>
        <p:txBody>
          <a:bodyPr>
            <a:normAutofit/>
          </a:bodyPr>
          <a:lstStyle/>
          <a:p>
            <a:r>
              <a:rPr lang="bg-BG" sz="3000" dirty="0" smtClean="0"/>
              <a:t>Предприемчив българин отваря по едно квартално магазинче в няколко </a:t>
            </a:r>
            <a:r>
              <a:rPr lang="bg-BG" sz="3000" b="1" dirty="0" smtClean="0">
                <a:solidFill>
                  <a:schemeClr val="tx2">
                    <a:lumMod val="75000"/>
                  </a:schemeClr>
                </a:solidFill>
              </a:rPr>
              <a:t>града</a:t>
            </a:r>
            <a:r>
              <a:rPr lang="bg-BG" sz="3000" dirty="0" smtClean="0"/>
              <a:t> с различни </a:t>
            </a:r>
            <a:r>
              <a:rPr lang="bg-BG" sz="3000" b="1" dirty="0" smtClean="0">
                <a:solidFill>
                  <a:schemeClr val="tx2">
                    <a:lumMod val="75000"/>
                  </a:schemeClr>
                </a:solidFill>
              </a:rPr>
              <a:t>цени</a:t>
            </a:r>
            <a:r>
              <a:rPr lang="bg-BG" sz="3000" dirty="0" smtClean="0"/>
              <a:t> за следните </a:t>
            </a:r>
            <a:r>
              <a:rPr lang="bg-BG" sz="3000" b="1" dirty="0" smtClean="0">
                <a:solidFill>
                  <a:schemeClr val="tx2">
                    <a:lumMod val="75000"/>
                  </a:schemeClr>
                </a:solidFill>
              </a:rPr>
              <a:t>продукти</a:t>
            </a:r>
            <a:r>
              <a:rPr lang="bg-BG" sz="3000" dirty="0" smtClean="0"/>
              <a:t>:</a:t>
            </a:r>
          </a:p>
          <a:p>
            <a:endParaRPr lang="bg-BG" sz="3000" dirty="0"/>
          </a:p>
          <a:p>
            <a:endParaRPr lang="bg-BG" sz="3000" dirty="0" smtClean="0"/>
          </a:p>
          <a:p>
            <a:endParaRPr lang="bg-BG" sz="3000" dirty="0"/>
          </a:p>
          <a:p>
            <a:pPr>
              <a:spcBef>
                <a:spcPts val="3000"/>
              </a:spcBef>
            </a:pPr>
            <a:r>
              <a:rPr lang="bg-BG" sz="3000" dirty="0" smtClean="0"/>
              <a:t>По даден град, продукт и количество да се пресметне цената. Примери:</a:t>
            </a:r>
            <a:endParaRPr lang="en-US" sz="3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Пример: Квартално магазинче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52473221"/>
              </p:ext>
            </p:extLst>
          </p:nvPr>
        </p:nvGraphicFramePr>
        <p:xfrm>
          <a:off x="1649658" y="2286000"/>
          <a:ext cx="8940554" cy="1981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13305"/>
                <a:gridCol w="1436284"/>
                <a:gridCol w="1135329"/>
                <a:gridCol w="1349250"/>
                <a:gridCol w="1266642"/>
                <a:gridCol w="1439744"/>
              </a:tblGrid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g-BG" sz="2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град / продукт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coffee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water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beer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sweets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peanuts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Sofia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</a:rPr>
                        <a:t>0.50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</a:rPr>
                        <a:t>0.80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</a:rPr>
                        <a:t>1.20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effectLst/>
                        </a:rPr>
                        <a:t>1.45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</a:rPr>
                        <a:t>1.60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Plovdiv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1.15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Varna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0.45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1.35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1.55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741612" y="5087669"/>
            <a:ext cx="1341221" cy="129266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coffee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Varna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311433" y="5086219"/>
            <a:ext cx="792379" cy="129411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0.9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911633" y="5108138"/>
            <a:ext cx="1524000" cy="129266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peanuts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Plovdiv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664233" y="5106688"/>
            <a:ext cx="792379" cy="129411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1.5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9220862" y="5086754"/>
            <a:ext cx="1140750" cy="129266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beer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Sofia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6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0590212" y="5085304"/>
            <a:ext cx="762000" cy="129411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7.2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9168111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Решение: квартално магазинче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12812" y="1126153"/>
            <a:ext cx="10363200" cy="483209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product = Console.ReadLine().ToLower();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town = Console.ReadLine().ToLower();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quantity = double.Parse(Console.ReadLine());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(town == "sofia")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if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(product == "coffee") </a:t>
            </a:r>
            <a:endParaRPr lang="en-US" sz="2800" b="1" noProof="1" smtClean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Console.WriteLine(0.50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 quantity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TODO: finish this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(town ==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"varna") // TODO: finish this …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(town ==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"plovdiv")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TODO: finish this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0412" y="6123296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judge.softuni.bg/Contests/Practice/Index/153#1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6669357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4" y="4312096"/>
            <a:ext cx="9296398" cy="820600"/>
          </a:xfrm>
        </p:spPr>
        <p:txBody>
          <a:bodyPr/>
          <a:lstStyle/>
          <a:p>
            <a:r>
              <a:rPr lang="bg-BG" dirty="0" smtClean="0"/>
              <a:t>По-сложни проверки</a:t>
            </a:r>
            <a:endParaRPr lang="bg-B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446214" y="5213996"/>
            <a:ext cx="9296398" cy="1339204"/>
          </a:xfrm>
        </p:spPr>
        <p:txBody>
          <a:bodyPr/>
          <a:lstStyle/>
          <a:p>
            <a:r>
              <a:rPr lang="bg-BG" dirty="0"/>
              <a:t>Логическо "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и</a:t>
            </a:r>
            <a:r>
              <a:rPr lang="bg-BG" dirty="0"/>
              <a:t>", логическо "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или</a:t>
            </a:r>
            <a:r>
              <a:rPr lang="bg-BG" dirty="0"/>
              <a:t>", логическо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отрицание</a:t>
            </a:r>
            <a:r>
              <a:rPr lang="bg-BG" dirty="0"/>
              <a:t> 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скоби</a:t>
            </a:r>
            <a:endParaRPr lang="en-US" dirty="0"/>
          </a:p>
        </p:txBody>
      </p:sp>
      <p:pic>
        <p:nvPicPr>
          <p:cNvPr id="5126" name="Picture 6" descr="https://www.uwcne.org/sites/uwnlive.dlcdev.com/files/users/9/Dollarphotoclub-logic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510" y="1291034"/>
            <a:ext cx="3047998" cy="2706622"/>
          </a:xfrm>
          <a:prstGeom prst="roundRect">
            <a:avLst>
              <a:gd name="adj" fmla="val 2044"/>
            </a:avLst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ttp://www.library.ohiou.edu/wp-content/uploads/2013/11/booleanOperator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08" y="1265300"/>
            <a:ext cx="7177134" cy="2773300"/>
          </a:xfrm>
          <a:prstGeom prst="roundRect">
            <a:avLst>
              <a:gd name="adj" fmla="val 5899"/>
            </a:avLst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21000225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97333"/>
            <a:ext cx="11804821" cy="5570355"/>
          </a:xfrm>
        </p:spPr>
        <p:txBody>
          <a:bodyPr>
            <a:normAutofit lnSpcReduction="10000"/>
          </a:bodyPr>
          <a:lstStyle/>
          <a:p>
            <a:pPr>
              <a:lnSpc>
                <a:spcPct val="115000"/>
              </a:lnSpc>
            </a:pPr>
            <a:r>
              <a:rPr lang="bg-BG" dirty="0" smtClean="0"/>
              <a:t>Логическо "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И</a:t>
            </a:r>
            <a:r>
              <a:rPr lang="bg-BG" dirty="0" smtClean="0"/>
              <a:t>" (оператор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&amp;&amp;</a:t>
            </a:r>
            <a:r>
              <a:rPr lang="bg-BG" dirty="0" smtClean="0"/>
              <a:t>) означава няколко условия да са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изпълнени едновременно</a:t>
            </a:r>
          </a:p>
          <a:p>
            <a:pPr>
              <a:lnSpc>
                <a:spcPct val="115000"/>
              </a:lnSpc>
            </a:pPr>
            <a:endParaRPr lang="bg-BG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115000"/>
              </a:lnSpc>
            </a:pPr>
            <a:r>
              <a:rPr lang="bg-BG" dirty="0" smtClean="0"/>
              <a:t>Пример: проверка дали точка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{x, y}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/>
            </a:r>
            <a:b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bg-BG" dirty="0" smtClean="0"/>
              <a:t>се намира вътре в правоъгълника</a:t>
            </a:r>
            <a:br>
              <a:rPr lang="bg-BG" dirty="0" smtClean="0"/>
            </a:b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{x1, y1} – {x2, y2}</a:t>
            </a:r>
            <a:endParaRPr lang="bg-BG" dirty="0"/>
          </a:p>
          <a:p>
            <a:pPr>
              <a:lnSpc>
                <a:spcPct val="115000"/>
              </a:lnSpc>
            </a:pPr>
            <a:r>
              <a:rPr lang="bg-BG" dirty="0" smtClean="0"/>
              <a:t>Необходимо е точката</a:t>
            </a:r>
            <a:r>
              <a:rPr lang="en-US" dirty="0" smtClean="0"/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{x, y}</a:t>
            </a:r>
            <a:r>
              <a:rPr lang="bg-BG" dirty="0" smtClean="0"/>
              <a:t> да е:</a:t>
            </a:r>
          </a:p>
          <a:p>
            <a:pPr lvl="1">
              <a:lnSpc>
                <a:spcPct val="115000"/>
              </a:lnSpc>
            </a:pPr>
            <a:r>
              <a:rPr lang="bg-BG" dirty="0" smtClean="0"/>
              <a:t>надясно от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x1</a:t>
            </a:r>
            <a:r>
              <a:rPr lang="bg-BG" dirty="0" smtClean="0"/>
              <a:t> и</a:t>
            </a:r>
            <a:r>
              <a:rPr lang="en-US" dirty="0" smtClean="0"/>
              <a:t> </a:t>
            </a:r>
            <a:r>
              <a:rPr lang="bg-BG" dirty="0" smtClean="0"/>
              <a:t>наляво от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x2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dirty="0" smtClean="0"/>
              <a:t>и</a:t>
            </a:r>
            <a:br>
              <a:rPr lang="bg-BG" dirty="0" smtClean="0"/>
            </a:br>
            <a:r>
              <a:rPr lang="bg-BG" dirty="0" smtClean="0"/>
              <a:t>надолу от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y1</a:t>
            </a:r>
            <a:r>
              <a:rPr lang="bg-BG" dirty="0" smtClean="0"/>
              <a:t> и</a:t>
            </a:r>
            <a:r>
              <a:rPr lang="en-US" dirty="0" smtClean="0"/>
              <a:t> </a:t>
            </a:r>
            <a:r>
              <a:rPr lang="bg-BG" dirty="0" smtClean="0"/>
              <a:t>нагоре от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y2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Логическо "И"</a:t>
            </a:r>
            <a:endParaRPr lang="en-US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94612" y="3263270"/>
            <a:ext cx="3844906" cy="3007140"/>
          </a:xfrm>
          <a:prstGeom prst="roundRect">
            <a:avLst>
              <a:gd name="adj" fmla="val 1444"/>
            </a:avLst>
          </a:prstGeom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49308" y="2348753"/>
            <a:ext cx="10882198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6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(x &gt;= x1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&amp;&amp;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x &lt;= x2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&amp;&amp;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y &gt;=</a:t>
            </a:r>
            <a:r>
              <a:rPr lang="bg-BG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y1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&amp;&amp;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y &lt;= y2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…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8105963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 smtClean="0"/>
              <a:t>Точка е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вътрешна</a:t>
            </a:r>
            <a:r>
              <a:rPr lang="bg-BG" dirty="0" smtClean="0"/>
              <a:t> за даден правоъгълник, ако е:</a:t>
            </a:r>
          </a:p>
          <a:p>
            <a:pPr lvl="1">
              <a:lnSpc>
                <a:spcPct val="100000"/>
              </a:lnSpc>
            </a:pPr>
            <a:r>
              <a:rPr lang="bg-BG" dirty="0" smtClean="0"/>
              <a:t>надясно от лявата му страна, наляво то дясната му страна, надолу от горната му страна и нагоре от долната му страна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Пример: Точка в правоъгълник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05820" y="3056563"/>
            <a:ext cx="10777184" cy="297004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x = 8, y = -1;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x1 = 2, y1 = -3;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x2 = 12, y2 = 3;</a:t>
            </a:r>
          </a:p>
          <a:p>
            <a:pPr eaLnBrk="0" hangingPunct="0">
              <a:spcBef>
                <a:spcPts val="6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(x &gt;= x1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&amp;&amp;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x &lt;= x2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&amp;&amp;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y &gt;=</a:t>
            </a:r>
            <a:r>
              <a:rPr lang="bg-BG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y1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&amp;&amp;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y &lt;= y2)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Console.WriteLine("Inside");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Console.WriteLine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("Outside");</a:t>
            </a:r>
          </a:p>
        </p:txBody>
      </p:sp>
      <p:sp>
        <p:nvSpPr>
          <p:cNvPr id="7" name="Rectangle 6"/>
          <p:cNvSpPr/>
          <p:nvPr/>
        </p:nvSpPr>
        <p:spPr>
          <a:xfrm>
            <a:off x="815004" y="6195031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judge.softuni.bg/Contests/Practice/Index/153#2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77079" y="3712022"/>
            <a:ext cx="2121346" cy="1659126"/>
          </a:xfrm>
          <a:prstGeom prst="roundRect">
            <a:avLst>
              <a:gd name="adj" fmla="val 1444"/>
            </a:avLst>
          </a:prstGeom>
        </p:spPr>
      </p:pic>
    </p:spTree>
    <p:extLst>
      <p:ext uri="{BB962C8B-B14F-4D97-AF65-F5344CB8AC3E}">
        <p14:creationId xmlns="" xmlns:p14="http://schemas.microsoft.com/office/powerpoint/2010/main" val="325238010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/>
              <a:t>Логическо </a:t>
            </a:r>
            <a:r>
              <a:rPr lang="bg-BG" dirty="0" smtClean="0"/>
              <a:t>"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ИЛИ</a:t>
            </a:r>
            <a:r>
              <a:rPr lang="bg-BG" dirty="0" smtClean="0"/>
              <a:t>" </a:t>
            </a:r>
            <a:r>
              <a:rPr lang="bg-BG" dirty="0"/>
              <a:t>(оператор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||</a:t>
            </a:r>
            <a:r>
              <a:rPr lang="bg-BG" dirty="0" smtClean="0"/>
              <a:t>) </a:t>
            </a:r>
            <a:r>
              <a:rPr lang="bg-BG" dirty="0"/>
              <a:t>означава </a:t>
            </a:r>
            <a:r>
              <a:rPr lang="bg-BG" dirty="0" smtClean="0"/>
              <a:t>да е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изпълнено поне едно </a:t>
            </a:r>
            <a:r>
              <a:rPr lang="bg-BG" dirty="0" smtClean="0"/>
              <a:t>измежду няколко условия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bg-BG" dirty="0" smtClean="0"/>
              <a:t>Задача: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плод</a:t>
            </a:r>
            <a:r>
              <a:rPr lang="bg-BG" dirty="0" smtClean="0"/>
              <a:t> или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зеленчук</a:t>
            </a:r>
            <a:r>
              <a:rPr lang="en-US" dirty="0" smtClean="0"/>
              <a:t>?</a:t>
            </a:r>
            <a:endParaRPr lang="bg-BG" dirty="0" smtClean="0"/>
          </a:p>
          <a:p>
            <a:pPr lvl="1"/>
            <a:r>
              <a:rPr lang="bg-BG" dirty="0" smtClean="0"/>
              <a:t>Плодовете </a:t>
            </a:r>
            <a:r>
              <a:rPr lang="en-US" dirty="0" smtClean="0"/>
              <a:t>"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fruit</a:t>
            </a:r>
            <a:r>
              <a:rPr lang="en-US" dirty="0" smtClean="0"/>
              <a:t>"</a:t>
            </a:r>
            <a:r>
              <a:rPr lang="bg-BG" dirty="0" smtClean="0"/>
              <a:t> са: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banana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apple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kiwi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cherry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lemon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grapes</a:t>
            </a:r>
            <a:endParaRPr lang="bg-BG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bg-BG" dirty="0" smtClean="0"/>
              <a:t>Зеленчуците</a:t>
            </a:r>
            <a:r>
              <a:rPr lang="en-US" dirty="0" smtClean="0"/>
              <a:t> "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vegetable</a:t>
            </a:r>
            <a:r>
              <a:rPr lang="en-US" dirty="0" smtClean="0"/>
              <a:t>"</a:t>
            </a:r>
            <a:r>
              <a:rPr lang="bg-BG" dirty="0" smtClean="0"/>
              <a:t> са: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tomato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cucumber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pepper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carrot</a:t>
            </a:r>
            <a:endParaRPr lang="bg-BG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bg-BG" dirty="0" smtClean="0"/>
              <a:t>Всички останали са</a:t>
            </a:r>
            <a:r>
              <a:rPr lang="en-US" dirty="0" smtClean="0"/>
              <a:t> "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unknown</a:t>
            </a:r>
            <a:r>
              <a:rPr lang="en-US" dirty="0" smtClean="0"/>
              <a:t>"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Логическо "ИЛИ"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49308" y="2535300"/>
            <a:ext cx="10882198" cy="9971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(s == "banana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s == "apple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s ==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"kiwi")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Console.WriteLine("fruit");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932612" y="3827148"/>
            <a:ext cx="1301691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lemon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807233" y="3827148"/>
            <a:ext cx="1554379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fruit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8373137" y="3950258"/>
            <a:ext cx="304800" cy="2462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932612" y="5908357"/>
            <a:ext cx="1301691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java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8807233" y="5908357"/>
            <a:ext cx="1554379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unknown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8373137" y="6031467"/>
            <a:ext cx="304800" cy="2462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="" xmlns:p14="http://schemas.microsoft.com/office/powerpoint/2010/main" val="159078878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66800"/>
            <a:ext cx="11804822" cy="5570355"/>
          </a:xfrm>
        </p:spPr>
        <p:txBody>
          <a:bodyPr/>
          <a:lstStyle/>
          <a:p>
            <a:r>
              <a:rPr lang="bg-BG" dirty="0" smtClean="0"/>
              <a:t>Решение на задачата "плод или зеленчук":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Пример: Плод или зеленчук?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12812" y="1850408"/>
            <a:ext cx="10363200" cy="416421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s = Console.ReadLine();</a:t>
            </a:r>
            <a:endParaRPr lang="bg-BG" sz="2800" b="1" noProof="1" smtClean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(s == "banana"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s == "apple"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s == "kiwi"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"cherry"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s == "lemon"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s == "grapes")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Console.WriteLine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("fruit");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 if (s == "tomato"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s == "cucumber"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</a:t>
            </a:r>
            <a:b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</a:b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"pepper"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s ==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"carrot")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Console.WriteLine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("vegetable");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Console.WriteLine("unknown");</a:t>
            </a:r>
          </a:p>
        </p:txBody>
      </p:sp>
      <p:sp>
        <p:nvSpPr>
          <p:cNvPr id="7" name="Rectangle 6"/>
          <p:cNvSpPr/>
          <p:nvPr/>
        </p:nvSpPr>
        <p:spPr>
          <a:xfrm>
            <a:off x="815004" y="6167735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judge.softuni.bg/Contests/Practice/Index/153#</a:t>
            </a:r>
            <a:r>
              <a:rPr lang="bg-BG" dirty="0" smtClean="0">
                <a:hlinkClick r:id="rId2"/>
              </a:rPr>
              <a:t>3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3374165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4" y="4756721"/>
            <a:ext cx="9296398" cy="820600"/>
          </a:xfrm>
        </p:spPr>
        <p:txBody>
          <a:bodyPr/>
          <a:lstStyle/>
          <a:p>
            <a:r>
              <a:rPr lang="bg-BG" dirty="0" smtClean="0"/>
              <a:t>По-сложни проверки</a:t>
            </a:r>
            <a:endParaRPr lang="bg-B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446214" y="5658621"/>
            <a:ext cx="9296398" cy="692873"/>
          </a:xfrm>
        </p:spPr>
        <p:txBody>
          <a:bodyPr/>
          <a:lstStyle/>
          <a:p>
            <a:r>
              <a:rPr lang="bg-BG" dirty="0"/>
              <a:t>Работа на живо в клас (</a:t>
            </a:r>
            <a:r>
              <a:rPr lang="bg-BG" noProof="1"/>
              <a:t>лаб</a:t>
            </a:r>
            <a:r>
              <a:rPr lang="bg-BG" dirty="0"/>
              <a:t>)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12375" y="1143000"/>
            <a:ext cx="2859272" cy="333480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248107">
            <a:off x="1202168" y="1893655"/>
            <a:ext cx="4772025" cy="1857375"/>
          </a:xfrm>
          <a:prstGeom prst="rect">
            <a:avLst/>
          </a:prstGeom>
          <a:scene3d>
            <a:camera prst="perspectiveHeroicExtremeRightFacing"/>
            <a:lightRig rig="threePt" dir="t"/>
          </a:scene3d>
        </p:spPr>
      </p:pic>
      <p:pic>
        <p:nvPicPr>
          <p:cNvPr id="16" name="Picture 4" descr="http://findicons.com/files/icons/1671/simplicio/128/notification_don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758" y="1724020"/>
            <a:ext cx="1517464" cy="15174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https://en.opensuse.org/images/thumb/3/3b/Icon-warning.png/120px-Icon-warnin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9280" y="1866376"/>
            <a:ext cx="1911932" cy="19119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38096167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Логическо отрицание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/>
              <a:t>Логическо 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отрицание</a:t>
            </a:r>
            <a:r>
              <a:rPr lang="bg-BG" dirty="0" smtClean="0"/>
              <a:t> (оператор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en-US" dirty="0" smtClean="0"/>
              <a:t>) </a:t>
            </a:r>
            <a:r>
              <a:rPr lang="bg-BG" dirty="0" smtClean="0"/>
              <a:t>означава да </a:t>
            </a:r>
            <a:r>
              <a:rPr lang="bg-BG" b="1" dirty="0" smtClean="0">
                <a:solidFill>
                  <a:schemeClr val="tx2">
                    <a:lumMod val="75000"/>
                  </a:schemeClr>
                </a:solidFill>
              </a:rPr>
              <a:t>не е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 изпълнено </a:t>
            </a:r>
            <a:r>
              <a:rPr lang="bg-BG" dirty="0" smtClean="0"/>
              <a:t>дадено услови</a:t>
            </a:r>
            <a:r>
              <a:rPr lang="en-US" dirty="0" smtClean="0"/>
              <a:t>e</a:t>
            </a:r>
          </a:p>
          <a:p>
            <a:pPr>
              <a:lnSpc>
                <a:spcPct val="100000"/>
              </a:lnSpc>
            </a:pPr>
            <a:r>
              <a:rPr lang="bg-BG" dirty="0" smtClean="0"/>
              <a:t>Пример:</a:t>
            </a:r>
          </a:p>
          <a:p>
            <a:pPr lvl="1">
              <a:lnSpc>
                <a:spcPct val="100000"/>
              </a:lnSpc>
            </a:pPr>
            <a:r>
              <a:rPr lang="bg-BG" dirty="0" smtClean="0"/>
              <a:t>Дадено число е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валидно</a:t>
            </a:r>
            <a:r>
              <a:rPr lang="bg-BG" dirty="0" smtClean="0"/>
              <a:t>, ако</a:t>
            </a:r>
            <a:r>
              <a:rPr lang="bg-BG" dirty="0"/>
              <a:t> </a:t>
            </a:r>
            <a:r>
              <a:rPr lang="bg-BG" dirty="0" smtClean="0"/>
              <a:t>е в диапазона </a:t>
            </a:r>
            <a:r>
              <a:rPr lang="en-US" dirty="0" smtClean="0"/>
              <a:t>[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100</a:t>
            </a:r>
            <a:r>
              <a:rPr lang="en-US" dirty="0" smtClean="0"/>
              <a:t>…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200</a:t>
            </a:r>
            <a:r>
              <a:rPr lang="en-US" dirty="0" smtClean="0"/>
              <a:t>]</a:t>
            </a:r>
            <a:r>
              <a:rPr lang="bg-BG" dirty="0" smtClean="0"/>
              <a:t> или е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0</a:t>
            </a:r>
            <a:endParaRPr lang="en-US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</a:pPr>
            <a:r>
              <a:rPr lang="bg-BG" dirty="0" smtClean="0"/>
              <a:t>Да се направи проверка за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невалидно число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52402" y="4419600"/>
            <a:ext cx="10654402" cy="151426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inRange = </a:t>
            </a: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num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&gt;= 100 &amp;&amp; num &lt;=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200</a:t>
            </a: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num == 0;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</a:t>
            </a:r>
            <a:r>
              <a:rPr lang="bg-BG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!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inRange)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Console.WriteLine("invalid");</a:t>
            </a:r>
          </a:p>
        </p:txBody>
      </p:sp>
      <p:sp>
        <p:nvSpPr>
          <p:cNvPr id="7" name="Rectangle 6"/>
          <p:cNvSpPr/>
          <p:nvPr/>
        </p:nvSpPr>
        <p:spPr>
          <a:xfrm>
            <a:off x="815004" y="6096000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judge.softuni.bg/Contests/Practice/Index/153#</a:t>
            </a:r>
            <a:r>
              <a:rPr lang="bg-BG" dirty="0" smtClean="0">
                <a:hlinkClick r:id="rId2"/>
              </a:rPr>
              <a:t>4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8454461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200" dirty="0" smtClean="0"/>
              <a:t>Да се напише програма, която чете 6 десетични числа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x1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y1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x2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y2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sz="3200" dirty="0"/>
              <a:t> </a:t>
            </a:r>
            <a:r>
              <a:rPr lang="bg-BG" sz="3200" dirty="0"/>
              <a:t>и 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  <a:endParaRPr lang="bg-BG" sz="3200" dirty="0"/>
          </a:p>
          <a:p>
            <a:pPr lvl="1"/>
            <a:r>
              <a:rPr lang="bg-BG" sz="3000" dirty="0" smtClean="0"/>
              <a:t>Печата дали точката е </a:t>
            </a:r>
            <a:r>
              <a:rPr lang="bg-BG" sz="3000" dirty="0" smtClean="0">
                <a:solidFill>
                  <a:schemeClr val="tx2">
                    <a:lumMod val="75000"/>
                  </a:schemeClr>
                </a:solidFill>
              </a:rPr>
              <a:t>върху страна от правоъгълника </a:t>
            </a:r>
            <a:r>
              <a:rPr lang="bg-BG" sz="3000" dirty="0" smtClean="0"/>
              <a:t>или не</a:t>
            </a:r>
          </a:p>
          <a:p>
            <a:pPr lvl="1"/>
            <a:r>
              <a:rPr lang="bg-BG" sz="3000" dirty="0" smtClean="0"/>
              <a:t>Ограничения: </a:t>
            </a:r>
            <a:r>
              <a:rPr lang="en-US" sz="30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x1</a:t>
            </a:r>
            <a:r>
              <a:rPr lang="en-US" sz="3000" b="1" dirty="0" smtClean="0"/>
              <a:t> </a:t>
            </a:r>
            <a:r>
              <a:rPr lang="en-US" sz="3000" dirty="0"/>
              <a:t>&lt;</a:t>
            </a:r>
            <a:r>
              <a:rPr lang="en-US" sz="3000" b="1" dirty="0"/>
              <a:t> 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x2</a:t>
            </a:r>
            <a:r>
              <a:rPr lang="en-US" sz="3000" dirty="0"/>
              <a:t> </a:t>
            </a:r>
            <a:r>
              <a:rPr lang="bg-BG" sz="3000" dirty="0"/>
              <a:t>и 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y1</a:t>
            </a:r>
            <a:r>
              <a:rPr lang="en-US" sz="3000" b="1" dirty="0"/>
              <a:t> </a:t>
            </a:r>
            <a:r>
              <a:rPr lang="en-US" sz="3000" dirty="0"/>
              <a:t>&lt;</a:t>
            </a:r>
            <a:r>
              <a:rPr lang="en-US" sz="3000" b="1" dirty="0"/>
              <a:t> </a:t>
            </a:r>
            <a:r>
              <a:rPr lang="en-US" sz="30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y2</a:t>
            </a:r>
            <a:endParaRPr lang="en-US" sz="3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Пример: Точка върху страна на правоъгълник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0412" y="3733800"/>
            <a:ext cx="786988" cy="267765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bg-BG" sz="2800" dirty="0"/>
              <a:t>2</a:t>
            </a:r>
            <a:endParaRPr lang="en-US" sz="2800" dirty="0"/>
          </a:p>
          <a:p>
            <a:r>
              <a:rPr lang="bg-BG" sz="2800" dirty="0"/>
              <a:t>-3</a:t>
            </a:r>
            <a:endParaRPr lang="en-US" sz="2800" dirty="0"/>
          </a:p>
          <a:p>
            <a:r>
              <a:rPr lang="bg-BG" sz="2800" dirty="0"/>
              <a:t>12</a:t>
            </a:r>
            <a:endParaRPr lang="en-US" sz="2800" dirty="0"/>
          </a:p>
          <a:p>
            <a:r>
              <a:rPr lang="bg-BG" sz="2800" dirty="0"/>
              <a:t>3</a:t>
            </a:r>
            <a:endParaRPr lang="en-US" sz="2800" dirty="0"/>
          </a:p>
          <a:p>
            <a:r>
              <a:rPr lang="bg-BG" sz="2800" dirty="0">
                <a:solidFill>
                  <a:schemeClr val="tx2">
                    <a:lumMod val="75000"/>
                  </a:schemeClr>
                </a:solidFill>
              </a:rPr>
              <a:t>8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bg-BG" sz="2800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bg-BG" sz="2800" dirty="0" smtClean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en-US" sz="26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08212" y="3733800"/>
            <a:ext cx="1676400" cy="267765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Inside / Outside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1763506" y="4949517"/>
            <a:ext cx="304800" cy="2462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51712" y="3733800"/>
            <a:ext cx="3447842" cy="2677656"/>
          </a:xfrm>
          <a:prstGeom prst="roundRect">
            <a:avLst>
              <a:gd name="adj" fmla="val 1866"/>
            </a:avLst>
          </a:prstGeom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304212" y="3733800"/>
            <a:ext cx="786988" cy="267765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bg-BG" sz="2800" dirty="0"/>
              <a:t>2</a:t>
            </a:r>
            <a:endParaRPr lang="en-US" sz="2800" dirty="0"/>
          </a:p>
          <a:p>
            <a:r>
              <a:rPr lang="bg-BG" sz="2800" dirty="0"/>
              <a:t>-3</a:t>
            </a:r>
            <a:endParaRPr lang="en-US" sz="2800" dirty="0"/>
          </a:p>
          <a:p>
            <a:r>
              <a:rPr lang="bg-BG" sz="2800" dirty="0"/>
              <a:t>12</a:t>
            </a:r>
            <a:endParaRPr lang="en-US" sz="2800" dirty="0"/>
          </a:p>
          <a:p>
            <a:r>
              <a:rPr lang="bg-BG" sz="2800" dirty="0"/>
              <a:t>3</a:t>
            </a:r>
            <a:endParaRPr lang="en-US" sz="2800" dirty="0"/>
          </a:p>
          <a:p>
            <a:r>
              <a:rPr lang="bg-BG" sz="2800" dirty="0">
                <a:solidFill>
                  <a:schemeClr val="tx2">
                    <a:lumMod val="75000"/>
                  </a:schemeClr>
                </a:solidFill>
              </a:rPr>
              <a:t>12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bg-BG" sz="2800" dirty="0">
                <a:solidFill>
                  <a:schemeClr val="tx2">
                    <a:lumMod val="75000"/>
                  </a:schemeClr>
                </a:solidFill>
              </a:rPr>
              <a:t>-1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9675812" y="3733800"/>
            <a:ext cx="1676400" cy="267765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Border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9231106" y="4949517"/>
            <a:ext cx="304800" cy="2462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="" xmlns:p14="http://schemas.microsoft.com/office/powerpoint/2010/main" val="372682549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97333"/>
            <a:ext cx="11804822" cy="55703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 smtClean="0"/>
              <a:t>Точка лежи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върху някоя от страните </a:t>
            </a:r>
            <a:r>
              <a:rPr lang="bg-BG" dirty="0" smtClean="0"/>
              <a:t>на правоъгълник, ако:</a:t>
            </a:r>
          </a:p>
          <a:p>
            <a:pPr lvl="1">
              <a:lnSpc>
                <a:spcPct val="100000"/>
              </a:lnSpc>
            </a:pP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 smtClean="0"/>
              <a:t> </a:t>
            </a:r>
            <a:r>
              <a:rPr lang="bg-BG" dirty="0" smtClean="0"/>
              <a:t>съвпада с</a:t>
            </a:r>
            <a:r>
              <a:rPr lang="en-US" dirty="0" smtClean="0"/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x1</a:t>
            </a:r>
            <a:r>
              <a:rPr lang="en-US" dirty="0" smtClean="0"/>
              <a:t> </a:t>
            </a:r>
            <a:r>
              <a:rPr lang="bg-BG" dirty="0" smtClean="0"/>
              <a:t>или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x2</a:t>
            </a:r>
            <a:r>
              <a:rPr lang="en-US" dirty="0" smtClean="0"/>
              <a:t> </a:t>
            </a:r>
            <a:r>
              <a:rPr lang="bg-BG" dirty="0" smtClean="0"/>
              <a:t>и същевременно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dirty="0" smtClean="0"/>
              <a:t> </a:t>
            </a:r>
            <a:r>
              <a:rPr lang="bg-BG" dirty="0" smtClean="0"/>
              <a:t>е между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y1</a:t>
            </a:r>
            <a:r>
              <a:rPr lang="en-US" dirty="0" smtClean="0"/>
              <a:t> </a:t>
            </a:r>
            <a:r>
              <a:rPr lang="bg-BG" dirty="0" smtClean="0"/>
              <a:t>и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y2</a:t>
            </a:r>
            <a:r>
              <a:rPr lang="bg-BG" dirty="0" smtClean="0"/>
              <a:t> или</a:t>
            </a:r>
            <a:endParaRPr lang="bg-BG" b="1" dirty="0" smtClean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dirty="0" smtClean="0"/>
              <a:t> </a:t>
            </a:r>
            <a:r>
              <a:rPr lang="bg-BG" dirty="0"/>
              <a:t>съвпада с</a:t>
            </a:r>
            <a:r>
              <a:rPr lang="en-US" dirty="0"/>
              <a:t>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y1</a:t>
            </a:r>
            <a:r>
              <a:rPr lang="en-US" dirty="0" smtClean="0"/>
              <a:t> </a:t>
            </a:r>
            <a:r>
              <a:rPr lang="bg-BG" dirty="0"/>
              <a:t>или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y2</a:t>
            </a:r>
            <a:r>
              <a:rPr lang="en-US" dirty="0" smtClean="0"/>
              <a:t> </a:t>
            </a:r>
            <a:r>
              <a:rPr lang="bg-BG" dirty="0"/>
              <a:t>и същевременно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 smtClean="0"/>
              <a:t> </a:t>
            </a:r>
            <a:r>
              <a:rPr lang="bg-BG" dirty="0"/>
              <a:t>е между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x1</a:t>
            </a:r>
            <a:r>
              <a:rPr lang="en-US" dirty="0" smtClean="0"/>
              <a:t> </a:t>
            </a:r>
            <a:r>
              <a:rPr lang="bg-BG" dirty="0"/>
              <a:t>и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x2</a:t>
            </a:r>
            <a:endParaRPr lang="bg-BG" b="1" dirty="0" smtClean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По-сложни </a:t>
            </a:r>
            <a:r>
              <a:rPr lang="bg-BG" dirty="0"/>
              <a:t>логически </a:t>
            </a:r>
            <a:r>
              <a:rPr lang="bg-BG" dirty="0" smtClean="0"/>
              <a:t>условия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836614" y="3146612"/>
            <a:ext cx="10515598" cy="341016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(x == x1 || x == x2) &amp;&amp;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(y &gt;= y1) &amp;&amp; (y &lt;= y2)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||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(y == y1 || y == y2) &amp;&amp;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(x &gt;= x1) &amp;&amp; (x &lt;= x2)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  <a:endParaRPr lang="en-US" sz="2800" b="1" noProof="1" smtClean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Console.WriteLine("Border");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18412" y="3505200"/>
            <a:ext cx="3587291" cy="2796988"/>
          </a:xfrm>
          <a:prstGeom prst="roundRect">
            <a:avLst>
              <a:gd name="adj" fmla="val 1444"/>
            </a:avLst>
          </a:prstGeom>
        </p:spPr>
      </p:pic>
    </p:spTree>
    <p:extLst>
      <p:ext uri="{BB962C8B-B14F-4D97-AF65-F5344CB8AC3E}">
        <p14:creationId xmlns="" xmlns:p14="http://schemas.microsoft.com/office/powerpoint/2010/main" val="37366927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97333"/>
            <a:ext cx="11804822" cy="55703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 smtClean="0"/>
              <a:t>Предходното условие може да се опрости</a:t>
            </a:r>
            <a:r>
              <a:rPr lang="en-US" dirty="0" smtClean="0"/>
              <a:t> </a:t>
            </a:r>
            <a:r>
              <a:rPr lang="bg-BG" dirty="0" smtClean="0"/>
              <a:t>ето така:</a:t>
            </a:r>
            <a:endParaRPr lang="bg-BG" b="1" dirty="0" smtClean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Опростяване на логически условия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36649" y="1905000"/>
            <a:ext cx="10715528" cy="400795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onLeftSide = (x == x1) &amp;&amp; (y &gt;= y1) &amp;&amp; (y &lt;= y2);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onRightSide = (x == x2) &amp;&amp; (y &gt;= y1) &amp;&amp; (y &lt;= y2);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onUpSide = (y == y1) &amp;&amp; (x &gt;= x1) &amp;&amp; (x &lt;= x2);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onDownSide = (y == y2) &amp;&amp; (x &gt;= x1) &amp;&amp; (x &lt;= x2);</a:t>
            </a:r>
          </a:p>
          <a:p>
            <a:pPr eaLnBrk="0" hangingPunct="0">
              <a:lnSpc>
                <a:spcPct val="105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onLeftSide || onRightSide || </a:t>
            </a:r>
            <a:r>
              <a:rPr lang="bg-BG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/>
            </a:r>
            <a:br>
              <a:rPr lang="bg-BG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</a:br>
            <a:r>
              <a:rPr lang="bg-BG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onUpSide 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 onDownSide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Console.WriteLine("Border");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85212" y="3745350"/>
            <a:ext cx="2668353" cy="2080497"/>
          </a:xfrm>
          <a:prstGeom prst="roundRect">
            <a:avLst>
              <a:gd name="adj" fmla="val 1444"/>
            </a:avLst>
          </a:prstGeom>
        </p:spPr>
      </p:pic>
      <p:sp>
        <p:nvSpPr>
          <p:cNvPr id="8" name="Rectangle 7"/>
          <p:cNvSpPr/>
          <p:nvPr/>
        </p:nvSpPr>
        <p:spPr>
          <a:xfrm>
            <a:off x="661800" y="6096000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judge.softuni.bg/Contests/Practice/Index/153#</a:t>
            </a:r>
            <a:r>
              <a:rPr lang="bg-BG" dirty="0" smtClean="0">
                <a:hlinkClick r:id="rId3"/>
              </a:rPr>
              <a:t>5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1206268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4" y="5351600"/>
            <a:ext cx="9296398" cy="820600"/>
          </a:xfrm>
        </p:spPr>
        <p:txBody>
          <a:bodyPr/>
          <a:lstStyle/>
          <a:p>
            <a:r>
              <a:rPr lang="bg-BG" dirty="0" smtClean="0"/>
              <a:t>Задачи с по-сложни проверки</a:t>
            </a:r>
            <a:endParaRPr lang="bg-BG" dirty="0"/>
          </a:p>
        </p:txBody>
      </p:sp>
      <p:pic>
        <p:nvPicPr>
          <p:cNvPr id="5126" name="Picture 6" descr="https://www.uwcne.org/sites/uwnlive.dlcdev.com/files/users/9/Dollarphotoclub-logic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234" y="1313000"/>
            <a:ext cx="4076358" cy="3619806"/>
          </a:xfrm>
          <a:prstGeom prst="roundRect">
            <a:avLst>
              <a:gd name="adj" fmla="val 2044"/>
            </a:avLst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learningshopbluewater.co.uk/wp-content/uploads/problem-solving-ico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4137">
            <a:off x="875102" y="2014400"/>
            <a:ext cx="2557006" cy="2557006"/>
          </a:xfrm>
          <a:prstGeom prst="roundRect">
            <a:avLst>
              <a:gd name="adj" fmla="val 2044"/>
            </a:avLst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coherencelabs.com/img/TypeMetal-app-icon-256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252" y="1822675"/>
            <a:ext cx="2940456" cy="29404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91378997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66800"/>
            <a:ext cx="11804822" cy="5570355"/>
          </a:xfrm>
        </p:spPr>
        <p:txBody>
          <a:bodyPr>
            <a:normAutofit/>
          </a:bodyPr>
          <a:lstStyle/>
          <a:p>
            <a:r>
              <a:rPr lang="bg-BG" sz="3200" dirty="0" smtClean="0"/>
              <a:t>Магазин за плодове в </a:t>
            </a:r>
            <a:r>
              <a:rPr lang="bg-BG" sz="3200" b="1" dirty="0" smtClean="0">
                <a:solidFill>
                  <a:schemeClr val="tx2">
                    <a:lumMod val="75000"/>
                  </a:schemeClr>
                </a:solidFill>
              </a:rPr>
              <a:t>работни дни </a:t>
            </a:r>
            <a:r>
              <a:rPr lang="bg-BG" sz="3200" dirty="0" smtClean="0"/>
              <a:t>продава на следните </a:t>
            </a:r>
            <a:r>
              <a:rPr lang="bg-BG" sz="3200" b="1" dirty="0" smtClean="0">
                <a:solidFill>
                  <a:schemeClr val="tx2">
                    <a:lumMod val="75000"/>
                  </a:schemeClr>
                </a:solidFill>
              </a:rPr>
              <a:t>цени</a:t>
            </a:r>
            <a:r>
              <a:rPr lang="bg-BG" sz="3200" dirty="0" smtClean="0"/>
              <a:t>:</a:t>
            </a:r>
          </a:p>
          <a:p>
            <a:endParaRPr lang="bg-BG" sz="3200" dirty="0"/>
          </a:p>
          <a:p>
            <a:endParaRPr lang="bg-BG" sz="3200" dirty="0" smtClean="0"/>
          </a:p>
          <a:p>
            <a:r>
              <a:rPr lang="bg-BG" sz="3200" dirty="0" smtClean="0"/>
              <a:t>В </a:t>
            </a:r>
            <a:r>
              <a:rPr lang="bg-BG" sz="3200" b="1" dirty="0" smtClean="0">
                <a:solidFill>
                  <a:schemeClr val="tx2">
                    <a:lumMod val="75000"/>
                  </a:schemeClr>
                </a:solidFill>
              </a:rPr>
              <a:t>почивни дни </a:t>
            </a:r>
            <a:r>
              <a:rPr lang="bg-BG" sz="3200" dirty="0" smtClean="0"/>
              <a:t>цените са по-високи:</a:t>
            </a:r>
          </a:p>
          <a:p>
            <a:endParaRPr lang="bg-BG" sz="3200" dirty="0"/>
          </a:p>
          <a:p>
            <a:endParaRPr lang="bg-BG" sz="3200" dirty="0" smtClean="0"/>
          </a:p>
          <a:p>
            <a:pPr>
              <a:spcBef>
                <a:spcPts val="1800"/>
              </a:spcBef>
            </a:pPr>
            <a:r>
              <a:rPr lang="bg-BG" sz="3200" dirty="0" smtClean="0"/>
              <a:t>Примерен</a:t>
            </a:r>
            <a:br>
              <a:rPr lang="bg-BG" sz="3200" dirty="0" smtClean="0"/>
            </a:br>
            <a:r>
              <a:rPr lang="bg-BG" sz="3200" dirty="0" smtClean="0"/>
              <a:t>вход и изход:</a:t>
            </a: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Пример: Магазин за плодове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89151" y="1771775"/>
          <a:ext cx="10007346" cy="11591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3996"/>
                <a:gridCol w="1318260"/>
                <a:gridCol w="1042035"/>
                <a:gridCol w="1238377"/>
                <a:gridCol w="1690433"/>
                <a:gridCol w="851535"/>
                <a:gridCol w="1689735"/>
                <a:gridCol w="1192975"/>
              </a:tblGrid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g-BG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плод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banana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apple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orange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grapefruit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kiwi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pineapple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grapes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95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g-BG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цена</a:t>
                      </a:r>
                      <a:endParaRPr lang="en-US" sz="2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effectLst/>
                        </a:rPr>
                        <a:t>2.50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effectLst/>
                        </a:rPr>
                        <a:t>1.20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effectLst/>
                        </a:rPr>
                        <a:t>0.85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effectLst/>
                        </a:rPr>
                        <a:t>1.45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effectLst/>
                        </a:rPr>
                        <a:t>2.70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effectLst/>
                        </a:rPr>
                        <a:t>5.50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effectLst/>
                        </a:rPr>
                        <a:t>3.85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3250" y="3753029"/>
          <a:ext cx="10007346" cy="11090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3996"/>
                <a:gridCol w="1318260"/>
                <a:gridCol w="1042035"/>
                <a:gridCol w="1238377"/>
                <a:gridCol w="1690433"/>
                <a:gridCol w="851535"/>
                <a:gridCol w="1689735"/>
                <a:gridCol w="1192975"/>
              </a:tblGrid>
              <a:tr h="5765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g-BG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плод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banana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apple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orange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grapefruit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kiwi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pineapple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grapes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325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g-BG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цена</a:t>
                      </a:r>
                      <a:endParaRPr lang="en-US" sz="2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2.70</a:t>
                      </a: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1.25</a:t>
                      </a: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0.90</a:t>
                      </a: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3.00</a:t>
                      </a: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5.60</a:t>
                      </a: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4.20</a:t>
                      </a:r>
                    </a:p>
                  </a:txBody>
                  <a:tcPr marL="68580" marR="68580" marT="0" marB="0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381591" y="5183050"/>
            <a:ext cx="1661258" cy="129266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apple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Tuesday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346060" y="5181600"/>
            <a:ext cx="1066800" cy="129411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2.40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376164" y="5203519"/>
            <a:ext cx="1661258" cy="129266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orange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Sunday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9340633" y="5202069"/>
            <a:ext cx="1066800" cy="129411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2.70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5817286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Решение: </a:t>
            </a:r>
            <a:r>
              <a:rPr lang="ru-RU" dirty="0" smtClean="0"/>
              <a:t>Магазин за плодове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60412" y="1163993"/>
            <a:ext cx="10668000" cy="489364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(day == "saturday" || day == "sunday")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(fruit == "banana") price = 2.70;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 if (fruit == "apple") price = 1.25;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TODO: more fruits come here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 if (day == "monday" || day == "tuesday" ||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day ==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"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wednesday" 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 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day == "thursday" || day == "friday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</a:t>
            </a:r>
            <a:endParaRPr lang="en-US" sz="2600" b="1" i="1" noProof="1" smtClean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(fruit == "banana") price = 2.50;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// </a:t>
            </a:r>
            <a:r>
              <a:rPr lang="en-US" sz="2600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TODO: more fruits come here </a:t>
            </a:r>
            <a:r>
              <a:rPr lang="en-US" sz="26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6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5004" y="6167735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judge.softuni.bg/Contests/Practice/Index/153#6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681112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66800"/>
            <a:ext cx="11804822" cy="5570355"/>
          </a:xfrm>
        </p:spPr>
        <p:txBody>
          <a:bodyPr>
            <a:noAutofit/>
          </a:bodyPr>
          <a:lstStyle/>
          <a:p>
            <a:r>
              <a:rPr lang="bg-BG" sz="3200" dirty="0"/>
              <a:t>Фирма дава следните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комисионни</a:t>
            </a:r>
            <a:r>
              <a:rPr lang="bg-BG" sz="3200" dirty="0"/>
              <a:t> на търговците си според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града</a:t>
            </a:r>
            <a:r>
              <a:rPr lang="bg-BG" sz="3200" dirty="0"/>
              <a:t>, в който работят и обема на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продажбите</a:t>
            </a:r>
            <a:r>
              <a:rPr lang="bg-BG" sz="3200" dirty="0"/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bg-BG" sz="3200" dirty="0" smtClean="0"/>
              <a:t>:</a:t>
            </a:r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r>
              <a:rPr lang="bg-BG" sz="3200" dirty="0" smtClean="0"/>
              <a:t>Напишете програма, която по град и обем</a:t>
            </a:r>
            <a:br>
              <a:rPr lang="bg-BG" sz="3200" dirty="0" smtClean="0"/>
            </a:br>
            <a:r>
              <a:rPr lang="bg-BG" sz="3200" dirty="0" smtClean="0"/>
              <a:t>на продажбите изчислява комисионната</a:t>
            </a:r>
          </a:p>
          <a:p>
            <a:pPr lvl="1"/>
            <a:r>
              <a:rPr lang="bg-BG" sz="3000" dirty="0" smtClean="0"/>
              <a:t>Резултатът да се изведе закръглен с 2 десетични цифри</a:t>
            </a:r>
            <a:endParaRPr lang="en-US" sz="3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Пример: Търговски комисионни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34262106"/>
              </p:ext>
            </p:extLst>
          </p:nvPr>
        </p:nvGraphicFramePr>
        <p:xfrm>
          <a:off x="760411" y="2389094"/>
          <a:ext cx="10668000" cy="2209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8367"/>
                <a:gridCol w="1767273"/>
                <a:gridCol w="2386947"/>
                <a:gridCol w="2826883"/>
                <a:gridCol w="1688530"/>
              </a:tblGrid>
              <a:tr h="6116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bg-BG" sz="2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Град / цена</a:t>
                      </a:r>
                      <a:endParaRPr lang="en-US" sz="2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bg-BG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 ≤ </a:t>
                      </a:r>
                      <a:r>
                        <a:rPr lang="en-US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 </a:t>
                      </a:r>
                      <a:r>
                        <a:rPr lang="bg-BG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≤ 500</a:t>
                      </a:r>
                      <a:endParaRPr lang="en-US" sz="2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bg-BG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500 &lt; </a:t>
                      </a:r>
                      <a:r>
                        <a:rPr lang="en-US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 </a:t>
                      </a:r>
                      <a:r>
                        <a:rPr lang="bg-BG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≤ 1 000</a:t>
                      </a:r>
                      <a:endParaRPr lang="en-US" sz="2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bg-BG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1 000 &lt; </a:t>
                      </a:r>
                      <a:r>
                        <a:rPr lang="en-US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 </a:t>
                      </a:r>
                      <a:r>
                        <a:rPr lang="bg-BG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≤ 1</a:t>
                      </a:r>
                      <a:r>
                        <a:rPr lang="en-US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 </a:t>
                      </a:r>
                      <a:r>
                        <a:rPr lang="bg-BG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000</a:t>
                      </a:r>
                      <a:endParaRPr lang="en-US" sz="2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 &gt;</a:t>
                      </a:r>
                      <a:r>
                        <a:rPr lang="bg-BG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1</a:t>
                      </a:r>
                      <a:r>
                        <a:rPr lang="en-US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 </a:t>
                      </a:r>
                      <a:r>
                        <a:rPr lang="bg-BG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000</a:t>
                      </a:r>
                      <a:endParaRPr lang="en-US" sz="2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327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Sofia</a:t>
                      </a:r>
                      <a:endParaRPr lang="en-US" sz="2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bg-BG" sz="2600" dirty="0">
                          <a:effectLst/>
                        </a:rPr>
                        <a:t>5%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bg-BG" sz="2600">
                          <a:effectLst/>
                        </a:rPr>
                        <a:t>7%</a:t>
                      </a:r>
                      <a:endParaRPr lang="en-US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>
                          <a:effectLst/>
                        </a:rPr>
                        <a:t>8%</a:t>
                      </a:r>
                      <a:endParaRPr lang="en-US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>
                          <a:effectLst/>
                        </a:rPr>
                        <a:t>12%</a:t>
                      </a:r>
                      <a:endParaRPr lang="en-US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5327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Varna</a:t>
                      </a:r>
                      <a:endParaRPr lang="en-US" sz="2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dirty="0">
                          <a:effectLst/>
                        </a:rPr>
                        <a:t>4.5%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dirty="0">
                          <a:effectLst/>
                        </a:rPr>
                        <a:t>7.5%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>
                          <a:effectLst/>
                        </a:rPr>
                        <a:t>10%</a:t>
                      </a:r>
                      <a:endParaRPr lang="en-US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>
                          <a:effectLst/>
                        </a:rPr>
                        <a:t>13%</a:t>
                      </a:r>
                      <a:endParaRPr lang="en-US" sz="2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5327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Plovdiv</a:t>
                      </a:r>
                      <a:endParaRPr lang="en-US" sz="2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dirty="0">
                          <a:effectLst/>
                        </a:rPr>
                        <a:t>5.5%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dirty="0">
                          <a:effectLst/>
                        </a:rPr>
                        <a:t>8%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dirty="0">
                          <a:effectLst/>
                        </a:rPr>
                        <a:t>12%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600" dirty="0">
                          <a:effectLst/>
                        </a:rPr>
                        <a:t>14.5%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376012" y="4996753"/>
            <a:ext cx="1052400" cy="88248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dirty="0" smtClean="0">
                <a:latin typeface="Consolas" panose="020B0609020204030204" pitchFamily="49" charset="0"/>
              </a:rPr>
              <a:t>27.50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it-IT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8277318" y="4993341"/>
            <a:ext cx="1447800" cy="90827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b="1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Plovdiv</a:t>
            </a:r>
          </a:p>
          <a:p>
            <a:r>
              <a:rPr lang="bg-BG" b="1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499.99</a:t>
            </a:r>
            <a:endParaRPr lang="it-IT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9881494" y="5312082"/>
            <a:ext cx="381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="" xmlns:p14="http://schemas.microsoft.com/office/powerpoint/2010/main" val="19775695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Решение: </a:t>
            </a:r>
            <a:r>
              <a:rPr lang="bg-BG" dirty="0"/>
              <a:t>Търговски комисионни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22412" y="1143000"/>
            <a:ext cx="10944000" cy="486287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comission = -1.0;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(town == "sofia")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if </a:t>
            </a:r>
            <a:r>
              <a:rPr lang="en-US" sz="25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(0 &lt;= sales &amp;&amp; sales &lt;= 500) comission = 0.05;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5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 </a:t>
            </a:r>
            <a:r>
              <a:rPr lang="en-US" sz="25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(500 &lt; sales &amp;&amp; sales &lt;= 1000) comission = 0.07;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// </a:t>
            </a:r>
            <a:r>
              <a:rPr lang="en-US" sz="25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TODO: check the other price ranges </a:t>
            </a:r>
            <a:r>
              <a:rPr lang="en-US" sz="25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  <a:endParaRPr lang="en-US" sz="25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 if (town == "varna") // TODO: check the price ranges </a:t>
            </a:r>
            <a:r>
              <a:rPr lang="en-US" sz="25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  <a:endParaRPr lang="en-US" sz="25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 if (town == "plovdiv") // TODO: check the price ranges </a:t>
            </a:r>
            <a:r>
              <a:rPr lang="en-US" sz="25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  <a:endParaRPr lang="en-US" sz="25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</a:t>
            </a:r>
            <a:r>
              <a:rPr lang="en-US" sz="25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(comission &gt;= </a:t>
            </a:r>
            <a:r>
              <a:rPr lang="en-US" sz="25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0)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Console.WriteLine("{0:f2}", sales * comission);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 Console.WriteLine("error");</a:t>
            </a:r>
            <a:endParaRPr lang="en-US" sz="25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8706" y="6140841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judge.softuni.bg/Contests/Practice/Index/153#7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4850449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6212" y="5678768"/>
            <a:ext cx="8938472" cy="719034"/>
          </a:xfrm>
        </p:spPr>
        <p:txBody>
          <a:bodyPr/>
          <a:lstStyle/>
          <a:p>
            <a:r>
              <a:rPr lang="bg-BG" dirty="0" smtClean="0"/>
              <a:t>По-доброто</a:t>
            </a:r>
            <a:r>
              <a:rPr lang="en-US" dirty="0" smtClean="0"/>
              <a:t> </a:t>
            </a:r>
            <a:r>
              <a:rPr lang="en-US" dirty="0"/>
              <a:t>If-Else-If-Else?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46212" y="4052703"/>
            <a:ext cx="8938472" cy="1568497"/>
          </a:xfrm>
        </p:spPr>
        <p:txBody>
          <a:bodyPr/>
          <a:lstStyle/>
          <a:p>
            <a:pPr lvl="0"/>
            <a:r>
              <a:rPr lang="bg-BG" dirty="0" smtClean="0"/>
              <a:t>Условна конструкция </a:t>
            </a:r>
            <a:r>
              <a:rPr lang="en-US" dirty="0" smtClean="0"/>
              <a:t>S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witch-case</a:t>
            </a:r>
            <a:endParaRPr lang="en-US" dirty="0"/>
          </a:p>
        </p:txBody>
      </p:sp>
      <p:pic>
        <p:nvPicPr>
          <p:cNvPr id="5" name="Picture 2" descr="http://www.middleleaze.co.uk/network_switch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1446212" y="1219200"/>
            <a:ext cx="8938472" cy="29513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="" xmlns:p14="http://schemas.microsoft.com/office/powerpoint/2010/main" val="6370697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463875" name="Rectangle 3"/>
          <p:cNvSpPr>
            <a:spLocks noGrp="1" noChangeArrowheads="1"/>
          </p:cNvSpPr>
          <p:nvPr>
            <p:ph idx="1"/>
          </p:nvPr>
        </p:nvSpPr>
        <p:spPr>
          <a:xfrm>
            <a:off x="190413" y="1039504"/>
            <a:ext cx="11804822" cy="55703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Switch-case</a:t>
            </a:r>
            <a:r>
              <a:rPr lang="en-US" sz="3200" dirty="0" smtClean="0"/>
              <a:t> </a:t>
            </a:r>
            <a:r>
              <a:rPr lang="bg-BG" sz="3200" dirty="0" smtClean="0"/>
              <a:t>работи като поредица</a:t>
            </a:r>
            <a:r>
              <a:rPr lang="en-US" sz="3200" dirty="0" smtClean="0"/>
              <a:t> 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if-else-if-else</a:t>
            </a:r>
            <a:endParaRPr lang="en-US" sz="3200" dirty="0"/>
          </a:p>
          <a:p>
            <a:pPr>
              <a:lnSpc>
                <a:spcPct val="100000"/>
              </a:lnSpc>
            </a:pPr>
            <a:r>
              <a:rPr lang="bg-BG" sz="3200" dirty="0" smtClean="0"/>
              <a:t>Пример</a:t>
            </a:r>
            <a:r>
              <a:rPr lang="en-US" sz="3200" dirty="0" smtClean="0"/>
              <a:t>: </a:t>
            </a:r>
            <a:r>
              <a:rPr lang="bg-BG" sz="3200" dirty="0" smtClean="0"/>
              <a:t>Принтирайте 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деня от седмицата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smtClean="0"/>
              <a:t>(</a:t>
            </a:r>
            <a:r>
              <a:rPr lang="bg-BG" sz="3200" dirty="0" smtClean="0"/>
              <a:t>на английски</a:t>
            </a:r>
            <a:r>
              <a:rPr lang="en-US" sz="3200" dirty="0" smtClean="0"/>
              <a:t>)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според въведеното число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smtClean="0"/>
              <a:t>(1…7)</a:t>
            </a:r>
            <a:endParaRPr lang="bg-BG" sz="3200" dirty="0" smtClean="0"/>
          </a:p>
        </p:txBody>
      </p:sp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Условна конструкция </a:t>
            </a:r>
            <a:r>
              <a:rPr lang="en-US" dirty="0"/>
              <a:t>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witch-case</a:t>
            </a:r>
            <a:endParaRPr lang="bg-BG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63876" name="Rectangle 4"/>
          <p:cNvSpPr>
            <a:spLocks noChangeArrowheads="1"/>
          </p:cNvSpPr>
          <p:nvPr/>
        </p:nvSpPr>
        <p:spPr bwMode="auto">
          <a:xfrm>
            <a:off x="898411" y="2743200"/>
            <a:ext cx="10377602" cy="351326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indent="-457200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 day = int.Parse(Console.ReadLine());</a:t>
            </a:r>
          </a:p>
          <a:p>
            <a:pPr indent="-457200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switch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(day)</a:t>
            </a:r>
          </a:p>
          <a:p>
            <a:pPr indent="-457200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indent="-457200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case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1: Console.WriteLine("Monday");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break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indent="-457200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case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2: Console.WriteLine("Tuesday");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break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indent="-457200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…</a:t>
            </a:r>
          </a:p>
          <a:p>
            <a:pPr indent="-457200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case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7: Console.WriteLine("Sunday");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break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indent="-457200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default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Console.WriteLine("Error!");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break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indent="-457200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412" y="6269916"/>
            <a:ext cx="1059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Тестване на решението </a:t>
            </a:r>
            <a:r>
              <a:rPr lang="en-US" dirty="0" smtClean="0"/>
              <a:t>: </a:t>
            </a:r>
            <a:r>
              <a:rPr lang="en-US" dirty="0" smtClean="0">
                <a:hlinkClick r:id="rId2"/>
              </a:rPr>
              <a:t>https://judge.softuni.bg/Contests/Practice/Index/153#8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5985835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28390" name="Rectangle 6"/>
          <p:cNvSpPr>
            <a:spLocks noGrp="1" noChangeArrowheads="1"/>
          </p:cNvSpPr>
          <p:nvPr>
            <p:ph idx="1"/>
          </p:nvPr>
        </p:nvSpPr>
        <p:spPr>
          <a:xfrm>
            <a:off x="190413" y="1066800"/>
            <a:ext cx="11804822" cy="5570355"/>
          </a:xfrm>
        </p:spPr>
        <p:txBody>
          <a:bodyPr>
            <a:normAutofit/>
          </a:bodyPr>
          <a:lstStyle/>
          <a:p>
            <a:r>
              <a:rPr lang="bg-BG" sz="3200" dirty="0" smtClean="0"/>
              <a:t>Напишете програма, която принтира 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вида на животно според името му</a:t>
            </a:r>
            <a:r>
              <a:rPr lang="en-US" sz="3200" dirty="0" smtClean="0"/>
              <a:t>:</a:t>
            </a:r>
            <a:r>
              <a:rPr lang="bg-BG" sz="3200" dirty="0" smtClean="0"/>
              <a:t> </a:t>
            </a:r>
            <a:r>
              <a:rPr lang="en-US" sz="3000" dirty="0" smtClean="0"/>
              <a:t>dog </a:t>
            </a:r>
            <a:r>
              <a:rPr lang="en-US" sz="3000" dirty="0">
                <a:sym typeface="Wingdings" panose="05000000000000000000" pitchFamily="2" charset="2"/>
              </a:rPr>
              <a:t> mammal; crocodile, tortoise, snake  </a:t>
            </a:r>
            <a:r>
              <a:rPr lang="en-US" sz="3000" dirty="0" smtClean="0">
                <a:sym typeface="Wingdings" panose="05000000000000000000" pitchFamily="2" charset="2"/>
              </a:rPr>
              <a:t>reptile;</a:t>
            </a:r>
            <a:r>
              <a:rPr lang="bg-BG" sz="3000" dirty="0">
                <a:sym typeface="Wingdings" panose="05000000000000000000" pitchFamily="2" charset="2"/>
              </a:rPr>
              <a:t> </a:t>
            </a:r>
            <a:r>
              <a:rPr lang="en-US" sz="3000" dirty="0" smtClean="0">
                <a:sym typeface="Wingdings" panose="05000000000000000000" pitchFamily="2" charset="2"/>
              </a:rPr>
              <a:t>others </a:t>
            </a:r>
            <a:r>
              <a:rPr lang="en-US" sz="3000" dirty="0">
                <a:sym typeface="Wingdings" panose="05000000000000000000" pitchFamily="2" charset="2"/>
              </a:rPr>
              <a:t> unknown</a:t>
            </a:r>
            <a:endParaRPr lang="bg-BG" sz="3000" dirty="0"/>
          </a:p>
        </p:txBody>
      </p:sp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Множество етикети в</a:t>
            </a:r>
            <a:r>
              <a:rPr lang="en-US" dirty="0" smtClean="0"/>
              <a:t> Switch-case</a:t>
            </a:r>
            <a:endParaRPr lang="bg-BG" dirty="0"/>
          </a:p>
        </p:txBody>
      </p:sp>
      <p:sp>
        <p:nvSpPr>
          <p:cNvPr id="528389" name="Rectangle 5"/>
          <p:cNvSpPr>
            <a:spLocks noChangeArrowheads="1"/>
          </p:cNvSpPr>
          <p:nvPr/>
        </p:nvSpPr>
        <p:spPr bwMode="auto">
          <a:xfrm>
            <a:off x="749859" y="2667000"/>
            <a:ext cx="10453800" cy="3588996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indent="-457200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switch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(animal)</a:t>
            </a:r>
          </a:p>
          <a:p>
            <a:pPr indent="-457200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indent="-457200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case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"dog": Console.WriteLine("mammal");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break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indent="-457200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case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"crocodile":</a:t>
            </a:r>
          </a:p>
          <a:p>
            <a:pPr indent="-457200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case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"tortoise":</a:t>
            </a:r>
          </a:p>
          <a:p>
            <a:pPr indent="-457200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case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"snake": Console.WriteLine("reptile");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break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indent="-457200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default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Console.WriteLine("unknown");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break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indent="-457200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412" y="6255996"/>
            <a:ext cx="1059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 smtClean="0"/>
              <a:t>Тестване на решението</a:t>
            </a:r>
            <a:r>
              <a:rPr lang="en-US" smtClean="0"/>
              <a:t>: </a:t>
            </a:r>
            <a:r>
              <a:rPr lang="en-US" smtClean="0">
                <a:hlinkClick r:id="rId2"/>
              </a:rPr>
              <a:t>https://judge.softuni.bg/Contests/Practice/Index/153#9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4308786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4823012"/>
            <a:ext cx="10363200" cy="820600"/>
          </a:xfrm>
        </p:spPr>
        <p:txBody>
          <a:bodyPr/>
          <a:lstStyle/>
          <a:p>
            <a:r>
              <a:rPr lang="bg-BG" dirty="0" smtClean="0"/>
              <a:t>Задачи с по-сложни проверки</a:t>
            </a:r>
            <a:endParaRPr lang="bg-B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12813" y="5678768"/>
            <a:ext cx="10363200" cy="692873"/>
          </a:xfrm>
        </p:spPr>
        <p:txBody>
          <a:bodyPr/>
          <a:lstStyle/>
          <a:p>
            <a:r>
              <a:rPr lang="bg-BG" dirty="0"/>
              <a:t>Работа на живо в клас (</a:t>
            </a:r>
            <a:r>
              <a:rPr lang="bg-BG" noProof="1"/>
              <a:t>лаб</a:t>
            </a:r>
            <a:r>
              <a:rPr lang="bg-BG" dirty="0" smtClean="0"/>
              <a:t>)</a:t>
            </a:r>
            <a:endParaRPr lang="en-US" dirty="0"/>
          </a:p>
        </p:txBody>
      </p:sp>
      <p:pic>
        <p:nvPicPr>
          <p:cNvPr id="5126" name="Picture 6" descr="https://www.uwcne.org/sites/uwnlive.dlcdev.com/files/users/9/Dollarphotoclub-logic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45" y="1066800"/>
            <a:ext cx="3578136" cy="3177384"/>
          </a:xfrm>
          <a:prstGeom prst="roundRect">
            <a:avLst>
              <a:gd name="adj" fmla="val 2044"/>
            </a:avLst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learningshopbluewater.co.uk/wp-content/uploads/problem-solving-ico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4137">
            <a:off x="1085001" y="1943323"/>
            <a:ext cx="2358194" cy="2358194"/>
          </a:xfrm>
          <a:prstGeom prst="roundRect">
            <a:avLst>
              <a:gd name="adj" fmla="val 2044"/>
            </a:avLst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coherencelabs.com/img/TypeMetal-app-icon-256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12" y="1837550"/>
            <a:ext cx="2743201" cy="25590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2047282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4920139"/>
            <a:ext cx="10363200" cy="820600"/>
          </a:xfrm>
        </p:spPr>
        <p:txBody>
          <a:bodyPr/>
          <a:lstStyle/>
          <a:p>
            <a:r>
              <a:rPr lang="bg-BG" dirty="0" smtClean="0"/>
              <a:t>Точка и правоъгълник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12813" y="5757966"/>
            <a:ext cx="10363200" cy="719034"/>
          </a:xfrm>
        </p:spPr>
        <p:txBody>
          <a:bodyPr/>
          <a:lstStyle/>
          <a:p>
            <a:r>
              <a:rPr lang="bg-BG" dirty="0" smtClean="0"/>
              <a:t>Графично (</a:t>
            </a:r>
            <a:r>
              <a:rPr lang="en-US" dirty="0"/>
              <a:t>GUI) </a:t>
            </a:r>
            <a:r>
              <a:rPr lang="bg-BG" dirty="0"/>
              <a:t>приложение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17799" y="838200"/>
            <a:ext cx="6753225" cy="38290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5569624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Нов </a:t>
            </a:r>
            <a:r>
              <a:rPr lang="en-US" dirty="0" smtClean="0"/>
              <a:t>Windows Forms </a:t>
            </a:r>
            <a:r>
              <a:rPr lang="bg-BG" dirty="0" smtClean="0"/>
              <a:t>проект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8612" y="1257194"/>
            <a:ext cx="8991600" cy="506740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712219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Нареждане на контролите във формата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8214" y="1222998"/>
            <a:ext cx="7772398" cy="51081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="" xmlns:p14="http://schemas.microsoft.com/office/powerpoint/2010/main" val="410591114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Задаване свойства на контролите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2012" y="1186980"/>
            <a:ext cx="7468247" cy="5182049"/>
          </a:xfrm>
          <a:prstGeom prst="rect">
            <a:avLst/>
          </a:prstGeom>
        </p:spPr>
      </p:pic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637212" y="1308981"/>
            <a:ext cx="5410200" cy="2553891"/>
          </a:xfrm>
          <a:prstGeom prst="wedgeRoundRectCallout">
            <a:avLst>
              <a:gd name="adj1" fmla="val -73807"/>
              <a:gd name="adj2" fmla="val -45744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FormPointAndRectangle</a:t>
            </a:r>
            <a:endParaRPr lang="en-US" b="1" noProof="1" smtClean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Text = "Point and Rectangle"</a:t>
            </a:r>
            <a:endParaRPr lang="en-US" b="1" noProof="1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r>
              <a:rPr lang="en-US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Font.Size = 12</a:t>
            </a:r>
            <a:endParaRPr lang="en-US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r>
              <a:rPr lang="en-US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Size = 700, 410</a:t>
            </a:r>
          </a:p>
          <a:p>
            <a:r>
              <a:rPr lang="en-US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MinimumSize = 500, 400</a:t>
            </a:r>
            <a:endParaRPr lang="bg-BG" b="1" noProof="1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r>
              <a:rPr lang="en-US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FormBorderStyle = FixedSingle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5713412" y="4026932"/>
            <a:ext cx="5327140" cy="2145268"/>
          </a:xfrm>
          <a:prstGeom prst="wedgeRoundRectCallout">
            <a:avLst>
              <a:gd name="adj1" fmla="val -90342"/>
              <a:gd name="adj2" fmla="val -37194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numericUpDownX1</a:t>
            </a:r>
            <a:r>
              <a:rPr lang="bg-BG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,</a:t>
            </a:r>
            <a:r>
              <a:rPr lang="en-US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X2,Y1,Y2,X,Y</a:t>
            </a:r>
          </a:p>
          <a:p>
            <a:r>
              <a:rPr lang="en-US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Values </a:t>
            </a:r>
            <a:r>
              <a:rPr lang="en-US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 2; -3; 12; 3; 8; -</a:t>
            </a:r>
            <a:r>
              <a:rPr lang="en-US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1</a:t>
            </a:r>
          </a:p>
          <a:p>
            <a:r>
              <a:rPr lang="pt-BR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Minimum </a:t>
            </a:r>
            <a:r>
              <a:rPr lang="pt-BR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 -100000</a:t>
            </a:r>
          </a:p>
          <a:p>
            <a:r>
              <a:rPr lang="pt-BR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Maximum </a:t>
            </a:r>
            <a:r>
              <a:rPr lang="pt-BR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 100000</a:t>
            </a:r>
          </a:p>
          <a:p>
            <a:r>
              <a:rPr lang="pt-BR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DecimalPlaces </a:t>
            </a:r>
            <a:r>
              <a:rPr lang="pt-BR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 </a:t>
            </a:r>
            <a:r>
              <a:rPr lang="pt-BR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2</a:t>
            </a:r>
            <a:endParaRPr lang="en-US" b="1" noProof="1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1880368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Задаване свойства на контролите (2)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2012" y="1186980"/>
            <a:ext cx="7468247" cy="5182049"/>
          </a:xfrm>
          <a:prstGeom prst="rect">
            <a:avLst/>
          </a:prstGeom>
        </p:spPr>
      </p:pic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684212" y="4191000"/>
            <a:ext cx="2514600" cy="919401"/>
          </a:xfrm>
          <a:prstGeom prst="wedgeRoundRectCallout">
            <a:avLst>
              <a:gd name="adj1" fmla="val 65968"/>
              <a:gd name="adj2" fmla="val 64594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buttonDraw</a:t>
            </a:r>
            <a:endParaRPr lang="en-US" b="1" noProof="1" smtClean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Text = </a:t>
            </a:r>
            <a:r>
              <a:rPr lang="en-US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"Draw"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4646612" y="4191000"/>
            <a:ext cx="4419600" cy="1736646"/>
          </a:xfrm>
          <a:prstGeom prst="wedgeRoundRectCallout">
            <a:avLst>
              <a:gd name="adj1" fmla="val -74113"/>
              <a:gd name="adj2" fmla="val 41417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labelLocation</a:t>
            </a:r>
          </a:p>
          <a:p>
            <a:r>
              <a:rPr lang="en-US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AutoSize </a:t>
            </a:r>
            <a:r>
              <a:rPr lang="en-US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 False</a:t>
            </a:r>
          </a:p>
          <a:p>
            <a:r>
              <a:rPr lang="en-US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BackColor </a:t>
            </a:r>
            <a:r>
              <a:rPr lang="en-US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 PaleGreen</a:t>
            </a:r>
          </a:p>
          <a:p>
            <a:r>
              <a:rPr lang="en-US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TextAlign </a:t>
            </a:r>
            <a:r>
              <a:rPr lang="en-US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 MiddleCenter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5408612" y="2057400"/>
            <a:ext cx="6019800" cy="919401"/>
          </a:xfrm>
          <a:prstGeom prst="wedgeRoundRectCallout">
            <a:avLst>
              <a:gd name="adj1" fmla="val -58253"/>
              <a:gd name="adj2" fmla="val 53118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pictureBox</a:t>
            </a:r>
          </a:p>
          <a:p>
            <a:r>
              <a:rPr lang="en-US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Anchor </a:t>
            </a:r>
            <a:r>
              <a:rPr lang="en-US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 Top, Bottom, Left, Right</a:t>
            </a:r>
          </a:p>
        </p:txBody>
      </p:sp>
    </p:spTree>
    <p:extLst>
      <p:ext uri="{BB962C8B-B14F-4D97-AF65-F5344CB8AC3E}">
        <p14:creationId xmlns="" xmlns:p14="http://schemas.microsoft.com/office/powerpoint/2010/main" val="361539388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Хванете следните събития:</a:t>
            </a:r>
          </a:p>
          <a:p>
            <a:pPr lvl="1"/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buttonDraw.Click</a:t>
            </a:r>
          </a:p>
          <a:p>
            <a:pPr lvl="1"/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numericUpDownX1.ValueChanged</a:t>
            </a:r>
            <a:r>
              <a:rPr lang="en-US" sz="3000" dirty="0" smtClean="0"/>
              <a:t>, 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numericUpDownY1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.ValueChanged</a:t>
            </a:r>
            <a:r>
              <a:rPr lang="en-US" sz="3000" dirty="0" smtClean="0"/>
              <a:t>, 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numericUpDownX2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.ValueChanged</a:t>
            </a:r>
            <a:r>
              <a:rPr lang="en-US" sz="3000" dirty="0" smtClean="0"/>
              <a:t>, 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numericUpDownY2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.ValueChanged</a:t>
            </a:r>
            <a:r>
              <a:rPr lang="en-US" sz="3000" dirty="0" smtClean="0"/>
              <a:t>, 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numericUpDownX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.ValueChanged</a:t>
            </a:r>
            <a:r>
              <a:rPr lang="en-US" sz="3000" dirty="0" smtClean="0"/>
              <a:t> </a:t>
            </a:r>
            <a:r>
              <a:rPr lang="bg-BG" sz="3000" dirty="0" smtClean="0"/>
              <a:t>и</a:t>
            </a:r>
            <a:r>
              <a:rPr lang="en-US" sz="3000" dirty="0" smtClean="0"/>
              <a:t> 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numericUpDownY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.ValueChanged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bg-BG" sz="3000" b="1" noProof="1" smtClean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FormPointAndRectangle.Load</a:t>
            </a:r>
            <a:r>
              <a:rPr lang="en-US" sz="3000" dirty="0"/>
              <a:t> </a:t>
            </a:r>
            <a:r>
              <a:rPr lang="bg-BG" sz="3000" dirty="0" smtClean="0"/>
              <a:t>и 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FormPointAndRectangle.</a:t>
            </a:r>
            <a:r>
              <a:rPr lang="en-US" sz="30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Resize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Прихващане на събития по контролите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694612" y="2514600"/>
            <a:ext cx="3657600" cy="310854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void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buttonDraw_Click(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object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sender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EventArgs 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Draw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313612" y="1151118"/>
            <a:ext cx="4062325" cy="1287279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dirty="0"/>
              <a:t>Всичките събития извикват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Draw()</a:t>
            </a:r>
            <a:r>
              <a:rPr lang="en-US" dirty="0"/>
              <a:t>:</a:t>
            </a:r>
            <a:endParaRPr lang="bg-BG" dirty="0"/>
          </a:p>
        </p:txBody>
      </p:sp>
    </p:spTree>
    <p:extLst>
      <p:ext uri="{BB962C8B-B14F-4D97-AF65-F5344CB8AC3E}">
        <p14:creationId xmlns="" xmlns:p14="http://schemas.microsoft.com/office/powerpoint/2010/main" val="311318095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Писане на кода за визуализация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60412" y="1143000"/>
            <a:ext cx="10668000" cy="520142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void Draw()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// Get the rectangle and point coordinates from the form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var x1 = this.numericUpDownX1.Value;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var y1 = this.numericUpDownY1.Value;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var x2 = this.numericUpDownX2.Value;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var y2 = this.numericUpDownY2.Value;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var x = this.numericUpDownX.Value;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var y = this.numericUpDownY.Value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  <a:endParaRPr lang="en-US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// Display the </a:t>
            </a:r>
            <a:r>
              <a:rPr lang="en-US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point location: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Inside / Border / Outside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DisplayPointLocation(x1, y1, x2, y2, x, y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bg-BG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TODO: finish this …</a:t>
            </a:r>
            <a:endParaRPr lang="en-US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789612" y="5562600"/>
            <a:ext cx="4419600" cy="919401"/>
          </a:xfrm>
          <a:prstGeom prst="wedgeRoundRectCallout">
            <a:avLst>
              <a:gd name="adj1" fmla="val -65593"/>
              <a:gd name="adj2" fmla="val -31712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Има много код за дописване. Разгледайте упражненията.</a:t>
            </a:r>
            <a:endParaRPr lang="en-US" b="1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359099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4920139"/>
            <a:ext cx="10363200" cy="820600"/>
          </a:xfrm>
        </p:spPr>
        <p:txBody>
          <a:bodyPr/>
          <a:lstStyle/>
          <a:p>
            <a:r>
              <a:rPr lang="bg-BG" dirty="0" smtClean="0"/>
              <a:t>Точка и правоъгълник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12813" y="5757966"/>
            <a:ext cx="10363200" cy="719034"/>
          </a:xfrm>
        </p:spPr>
        <p:txBody>
          <a:bodyPr/>
          <a:lstStyle/>
          <a:p>
            <a:r>
              <a:rPr lang="bg-BG" dirty="0"/>
              <a:t>Работа на живо в клас (</a:t>
            </a:r>
            <a:r>
              <a:rPr lang="bg-BG" noProof="1"/>
              <a:t>лаб</a:t>
            </a:r>
            <a:r>
              <a:rPr lang="bg-BG" dirty="0"/>
              <a:t>)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17799" y="838200"/>
            <a:ext cx="6753225" cy="38290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3784256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0413" y="1012208"/>
            <a:ext cx="11804822" cy="5570355"/>
          </a:xfrm>
        </p:spPr>
        <p:txBody>
          <a:bodyPr>
            <a:normAutofit/>
          </a:bodyPr>
          <a:lstStyle/>
          <a:p>
            <a:r>
              <a:rPr lang="bg-BG" sz="3200" dirty="0" smtClean="0"/>
              <a:t>Вложени проверки:</a:t>
            </a:r>
          </a:p>
          <a:p>
            <a:endParaRPr lang="bg-BG" sz="3200" dirty="0"/>
          </a:p>
          <a:p>
            <a:endParaRPr lang="bg-BG" sz="3200" dirty="0" smtClean="0"/>
          </a:p>
          <a:p>
            <a:endParaRPr lang="bg-BG" sz="3200" dirty="0"/>
          </a:p>
          <a:p>
            <a:endParaRPr lang="bg-BG" sz="3200" dirty="0" smtClean="0"/>
          </a:p>
          <a:p>
            <a:pPr>
              <a:spcBef>
                <a:spcPts val="1200"/>
              </a:spcBef>
            </a:pPr>
            <a:r>
              <a:rPr lang="bg-BG" sz="3200" dirty="0" smtClean="0"/>
              <a:t>По-сложни проверки с 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&amp;&amp;</a:t>
            </a:r>
            <a:r>
              <a:rPr lang="en-US" sz="3200" dirty="0" smtClean="0"/>
              <a:t>, 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||</a:t>
            </a:r>
            <a:r>
              <a:rPr lang="en-US" sz="3200" dirty="0" smtClean="0"/>
              <a:t>,</a:t>
            </a:r>
            <a:r>
              <a:rPr lang="bg-BG" sz="3200" dirty="0" smtClean="0"/>
              <a:t> 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bg-BG" sz="3200" dirty="0"/>
              <a:t> </a:t>
            </a:r>
            <a:r>
              <a:rPr lang="bg-BG" sz="3200" dirty="0" smtClean="0"/>
              <a:t>и 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Какво научихме днес?</a:t>
            </a:r>
            <a:endParaRPr lang="en-US" dirty="0"/>
          </a:p>
        </p:txBody>
      </p:sp>
      <p:pic>
        <p:nvPicPr>
          <p:cNvPr id="7" name="Picture 2" descr="C:\Users\Ivan\Desktop\elements_presentations\summary_pic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12" y="1752600"/>
            <a:ext cx="3314194" cy="245868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88196" y="1752600"/>
            <a:ext cx="6701616" cy="249299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(condition1)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bg-BG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(condition2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bg-BG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bg-BG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</a:t>
            </a:r>
            <a:r>
              <a:rPr lang="bg-BG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bg-BG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  <a:endParaRPr lang="en-US" sz="26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84211" y="5195804"/>
            <a:ext cx="10880335" cy="10525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x == left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x == right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&amp;&amp;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y &gt;= top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&amp;&amp;</a:t>
            </a: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y &lt;= bottom)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Console.WriteLine("Point on the left or right side.");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8719054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По-сложни проверки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529384" y="6400802"/>
            <a:ext cx="10482604" cy="351754"/>
          </a:xfrm>
        </p:spPr>
        <p:txBody>
          <a:bodyPr/>
          <a:lstStyle/>
          <a:p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://softuni.bg/courses/programming-basics</a:t>
            </a:r>
            <a:r>
              <a:rPr lang="en-US" dirty="0" smtClean="0">
                <a:hlinkClick r:id="rId3"/>
              </a:rPr>
              <a:t>/</a:t>
            </a:r>
            <a:endParaRPr lang="en-US" dirty="0"/>
          </a:p>
        </p:txBody>
      </p:sp>
      <p:pic>
        <p:nvPicPr>
          <p:cNvPr id="14" name="Picture 13">
            <a:hlinkClick r:id="rId4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980612" y="2729472"/>
            <a:ext cx="1726158" cy="932887"/>
          </a:xfrm>
          <a:prstGeom prst="roundRect">
            <a:avLst>
              <a:gd name="adj" fmla="val 2953"/>
            </a:avLst>
          </a:prstGeom>
        </p:spPr>
      </p:pic>
      <p:pic>
        <p:nvPicPr>
          <p:cNvPr id="15" name="Picture 14">
            <a:hlinkClick r:id="rId6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12764" y="1295401"/>
            <a:ext cx="1752600" cy="804224"/>
          </a:xfrm>
          <a:prstGeom prst="roundRect">
            <a:avLst>
              <a:gd name="adj" fmla="val 3159"/>
            </a:avLst>
          </a:prstGeom>
        </p:spPr>
      </p:pic>
      <p:pic>
        <p:nvPicPr>
          <p:cNvPr id="17" name="Picture 16">
            <a:hlinkClick r:id="rId8"/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468146" y="1295400"/>
            <a:ext cx="2040956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19" name="Picture 18">
            <a:hlinkClick r:id="rId10"/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824428" y="1295400"/>
            <a:ext cx="2093874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20" name="Picture 19">
            <a:hlinkClick r:id="rId12"/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12764" y="5373443"/>
            <a:ext cx="3352800" cy="849557"/>
          </a:xfrm>
          <a:prstGeom prst="roundRect">
            <a:avLst>
              <a:gd name="adj" fmla="val 3159"/>
            </a:avLst>
          </a:prstGeom>
        </p:spPr>
      </p:pic>
      <p:pic>
        <p:nvPicPr>
          <p:cNvPr id="22" name="Picture 21">
            <a:hlinkClick r:id="rId14"/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358563" y="5373443"/>
            <a:ext cx="2753589" cy="849556"/>
          </a:xfrm>
          <a:prstGeom prst="roundRect">
            <a:avLst>
              <a:gd name="adj" fmla="val 2953"/>
            </a:avLst>
          </a:prstGeom>
        </p:spPr>
      </p:pic>
      <p:pic>
        <p:nvPicPr>
          <p:cNvPr id="23" name="Picture 22">
            <a:hlinkClick r:id="rId16"/>
          </p:cNvPr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633728" y="5373443"/>
            <a:ext cx="4073042" cy="849556"/>
          </a:xfrm>
          <a:prstGeom prst="roundRect">
            <a:avLst>
              <a:gd name="adj" fmla="val 3159"/>
            </a:avLst>
          </a:prstGeom>
        </p:spPr>
      </p:pic>
      <p:pic>
        <p:nvPicPr>
          <p:cNvPr id="24" name="Picture 23">
            <a:hlinkClick r:id="rId18"/>
          </p:cNvPr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075612" y="1316222"/>
            <a:ext cx="3631158" cy="783191"/>
          </a:xfrm>
          <a:prstGeom prst="roundRect">
            <a:avLst>
              <a:gd name="adj" fmla="val 3159"/>
            </a:avLst>
          </a:prstGeom>
        </p:spPr>
      </p:pic>
      <p:pic>
        <p:nvPicPr>
          <p:cNvPr id="25" name="Picture 24">
            <a:hlinkClick r:id="rId20"/>
          </p:cNvPr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5713413" y="4251041"/>
            <a:ext cx="5993358" cy="550371"/>
          </a:xfrm>
          <a:prstGeom prst="roundRect">
            <a:avLst>
              <a:gd name="adj" fmla="val 3159"/>
            </a:avLst>
          </a:prstGeom>
        </p:spPr>
      </p:pic>
    </p:spTree>
    <p:extLst>
      <p:ext uri="{BB962C8B-B14F-4D97-AF65-F5344CB8AC3E}">
        <p14:creationId xmlns="" xmlns:p14="http://schemas.microsoft.com/office/powerpoint/2010/main" val="98755276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r>
              <a:rPr lang="bg-BG" dirty="0" smtClean="0"/>
              <a:t>Настоящият курс </a:t>
            </a:r>
            <a:r>
              <a:rPr lang="en-US" dirty="0" smtClean="0"/>
              <a:t>(</a:t>
            </a:r>
            <a:r>
              <a:rPr lang="bg-BG" dirty="0" smtClean="0"/>
              <a:t>слайдове</a:t>
            </a:r>
            <a:r>
              <a:rPr lang="en-US" dirty="0" smtClean="0"/>
              <a:t>, </a:t>
            </a:r>
            <a:r>
              <a:rPr lang="bg-BG" dirty="0" smtClean="0"/>
              <a:t>примери</a:t>
            </a:r>
            <a:r>
              <a:rPr lang="en-US" dirty="0" smtClean="0"/>
              <a:t>, </a:t>
            </a:r>
            <a:r>
              <a:rPr lang="bg-BG" dirty="0" smtClean="0"/>
              <a:t>видео</a:t>
            </a:r>
            <a:r>
              <a:rPr lang="en-US" dirty="0" smtClean="0"/>
              <a:t>, </a:t>
            </a:r>
            <a:r>
              <a:rPr lang="bg-BG" dirty="0" smtClean="0"/>
              <a:t>задачи и др.</a:t>
            </a:r>
            <a:r>
              <a:rPr lang="en-US" dirty="0" smtClean="0"/>
              <a:t>)</a:t>
            </a:r>
            <a:r>
              <a:rPr lang="bg-BG" dirty="0" smtClean="0"/>
              <a:t> се разпространяват под свободен лиценз </a:t>
            </a:r>
            <a:r>
              <a:rPr lang="en-US" dirty="0" smtClean="0"/>
              <a:t>"</a:t>
            </a:r>
            <a:r>
              <a:rPr lang="en-US" dirty="0" smtClean="0">
                <a:hlinkClick r:id="rId3"/>
              </a:rPr>
              <a:t>Creative </a:t>
            </a:r>
            <a:r>
              <a:rPr lang="en-US" dirty="0">
                <a:hlinkClick r:id="rId3"/>
              </a:rPr>
              <a:t>Commons </a:t>
            </a:r>
            <a:r>
              <a:rPr lang="en-US" noProof="1" smtClean="0">
                <a:hlinkClick r:id="rId3"/>
              </a:rPr>
              <a:t>Attribution-NonCommercial-ShareAlike</a:t>
            </a:r>
            <a:r>
              <a:rPr lang="en-US" dirty="0" smtClean="0">
                <a:hlinkClick r:id="rId3"/>
              </a:rPr>
              <a:t> </a:t>
            </a:r>
            <a:r>
              <a:rPr lang="en-US" dirty="0">
                <a:hlinkClick r:id="rId3"/>
              </a:rPr>
              <a:t>4.0 </a:t>
            </a:r>
            <a:r>
              <a:rPr lang="en-US" dirty="0" smtClean="0">
                <a:hlinkClick r:id="rId3"/>
              </a:rPr>
              <a:t>International</a:t>
            </a:r>
            <a:r>
              <a:rPr lang="en-US" dirty="0" smtClean="0"/>
              <a:t>"</a:t>
            </a:r>
            <a:endParaRPr lang="bg-BG" dirty="0" smtClean="0"/>
          </a:p>
          <a:p>
            <a:endParaRPr lang="bg-BG" sz="2400" dirty="0"/>
          </a:p>
          <a:p>
            <a:endParaRPr lang="bg-BG" sz="2400" dirty="0" smtClean="0"/>
          </a:p>
          <a:p>
            <a:endParaRPr lang="bg-BG" sz="2400" dirty="0" smtClean="0"/>
          </a:p>
          <a:p>
            <a:endParaRPr lang="bg-BG" sz="2400" dirty="0"/>
          </a:p>
          <a:p>
            <a:pPr>
              <a:spcBef>
                <a:spcPts val="1800"/>
              </a:spcBef>
            </a:pPr>
            <a:r>
              <a:rPr lang="bg-BG" sz="2400" dirty="0" smtClean="0"/>
              <a:t>Благодарности</a:t>
            </a:r>
            <a:r>
              <a:rPr lang="en-US" sz="2400" dirty="0" smtClean="0"/>
              <a:t>: </a:t>
            </a:r>
            <a:r>
              <a:rPr lang="bg-BG" sz="2400" dirty="0" smtClean="0"/>
              <a:t>настоящият материал може да съдържа части от следните източници</a:t>
            </a:r>
            <a:endParaRPr lang="en-US" sz="2400" dirty="0" smtClean="0"/>
          </a:p>
          <a:p>
            <a:pPr lvl="1"/>
            <a:r>
              <a:rPr lang="bg-BG" sz="2000" dirty="0" smtClean="0"/>
              <a:t>Книга </a:t>
            </a:r>
            <a:r>
              <a:rPr lang="en-US" sz="2000" dirty="0" smtClean="0"/>
              <a:t>"</a:t>
            </a:r>
            <a:r>
              <a:rPr lang="bg-BG" sz="2000" dirty="0" smtClean="0">
                <a:hlinkClick r:id="rId4"/>
              </a:rPr>
              <a:t>Основи на програмирането със </a:t>
            </a:r>
            <a:r>
              <a:rPr lang="en-US" sz="2000" dirty="0" smtClean="0">
                <a:hlinkClick r:id="rId4"/>
              </a:rPr>
              <a:t>C#"</a:t>
            </a:r>
            <a:r>
              <a:rPr lang="bg-BG" sz="2000" dirty="0" smtClean="0"/>
              <a:t> от Светлин Наков и колектив с лиценз</a:t>
            </a:r>
            <a:r>
              <a:rPr lang="en-US" sz="2000" dirty="0" smtClean="0"/>
              <a:t> </a:t>
            </a:r>
            <a:r>
              <a:rPr lang="en-US" sz="2000" dirty="0" smtClean="0">
                <a:hlinkClick r:id="rId5"/>
              </a:rPr>
              <a:t>CC-BY-SA</a:t>
            </a:r>
            <a:endParaRPr lang="bg-BG" sz="20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Лиценз</a:t>
            </a:r>
            <a:endParaRPr lang="en-US" dirty="0"/>
          </a:p>
        </p:txBody>
      </p:sp>
      <p:pic>
        <p:nvPicPr>
          <p:cNvPr id="8" name="Picture 4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07637" y="3517212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97548514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04426" y="103188"/>
            <a:ext cx="8869723" cy="936625"/>
          </a:xfrm>
        </p:spPr>
        <p:txBody>
          <a:bodyPr>
            <a:normAutofit/>
          </a:bodyPr>
          <a:lstStyle/>
          <a:p>
            <a:r>
              <a:rPr lang="bg-BG" dirty="0" smtClean="0"/>
              <a:t>Безплатни обучения в </a:t>
            </a:r>
            <a:r>
              <a:rPr lang="bg-BG" noProof="1" smtClean="0"/>
              <a:t>СофтУни</a:t>
            </a:r>
            <a:endParaRPr lang="bg-BG" noProof="1"/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27012" y="1039813"/>
            <a:ext cx="9429532" cy="56388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dirty="0" smtClean="0"/>
              <a:t>Фондация "Софтуерен университет" </a:t>
            </a:r>
            <a:r>
              <a:rPr lang="en-US" sz="3200" dirty="0" smtClean="0"/>
              <a:t>– </a:t>
            </a:r>
            <a:r>
              <a:rPr lang="en-US" sz="3200" noProof="1" smtClean="0">
                <a:hlinkClick r:id="rId3"/>
              </a:rPr>
              <a:t>softuni.org</a:t>
            </a:r>
            <a:endParaRPr lang="en-US" sz="3200" noProof="1" smtClean="0"/>
          </a:p>
          <a:p>
            <a:pPr>
              <a:lnSpc>
                <a:spcPct val="100000"/>
              </a:lnSpc>
            </a:pPr>
            <a:r>
              <a:rPr lang="bg-BG" sz="3200" dirty="0" smtClean="0"/>
              <a:t>Софтуерен университет </a:t>
            </a:r>
            <a:r>
              <a:rPr lang="en-US" sz="3200" dirty="0" smtClean="0"/>
              <a:t>– </a:t>
            </a:r>
            <a:r>
              <a:rPr lang="bg-BG" sz="3200" dirty="0" smtClean="0"/>
              <a:t>качествено образование, професия и работа за софтуерни инженери</a:t>
            </a:r>
            <a:endParaRPr lang="en-US" sz="3200" dirty="0"/>
          </a:p>
          <a:p>
            <a:pPr lvl="1">
              <a:lnSpc>
                <a:spcPct val="100000"/>
              </a:lnSpc>
            </a:pPr>
            <a:r>
              <a:rPr lang="en-US" sz="2900" noProof="1">
                <a:hlinkClick r:id="rId4"/>
              </a:rPr>
              <a:t>softuni.bg</a:t>
            </a:r>
            <a:r>
              <a:rPr lang="en-US" sz="2900" noProof="1"/>
              <a:t> </a:t>
            </a:r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bg-BG" noProof="1" smtClean="0"/>
              <a:t>СофтУни</a:t>
            </a:r>
            <a:r>
              <a:rPr lang="bg-BG" dirty="0" smtClean="0"/>
              <a:t> </a:t>
            </a:r>
            <a:r>
              <a:rPr lang="en-US" dirty="0" smtClean="0"/>
              <a:t>@ Facebook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5"/>
              </a:rPr>
              <a:t>facebook.com/SoftwareUniversity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bg-BG" noProof="1" smtClean="0"/>
              <a:t>СофтУни</a:t>
            </a:r>
            <a:r>
              <a:rPr lang="en-US" dirty="0" smtClean="0"/>
              <a:t> </a:t>
            </a:r>
            <a:r>
              <a:rPr lang="en-US" dirty="0"/>
              <a:t>@ </a:t>
            </a:r>
            <a:r>
              <a:rPr lang="en-US" dirty="0" smtClean="0"/>
              <a:t>YouTube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6"/>
              </a:rPr>
              <a:t>youtube.com/SoftwareUniversity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bg-BG" noProof="1" smtClean="0"/>
              <a:t>СофтУни форуми</a:t>
            </a:r>
            <a:r>
              <a:rPr lang="en-US" noProof="1" smtClean="0"/>
              <a:t> – </a:t>
            </a:r>
            <a:r>
              <a:rPr lang="en-US" dirty="0">
                <a:hlinkClick r:id="rId7"/>
              </a:rPr>
              <a:t>forum.softuni.bg</a:t>
            </a:r>
            <a:endParaRPr lang="en-US" noProof="1"/>
          </a:p>
        </p:txBody>
      </p:sp>
      <p:pic>
        <p:nvPicPr>
          <p:cNvPr id="10" name="Picture 9">
            <a:hlinkClick r:id="rId3" tooltip="Software University Foundation"/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5359" t="-15226" r="-5359" b="-15226"/>
          <a:stretch/>
        </p:blipFill>
        <p:spPr>
          <a:xfrm>
            <a:off x="9510966" y="466964"/>
            <a:ext cx="2269870" cy="874916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pic>
        <p:nvPicPr>
          <p:cNvPr id="11" name="Picture 4">
            <a:hlinkClick r:id="rId9"/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129404" y="3385124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hlinkClick r:id="rId6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412" y="4589658"/>
            <a:ext cx="1837868" cy="675261"/>
          </a:xfrm>
          <a:prstGeom prst="rect">
            <a:avLst/>
          </a:prstGeom>
          <a:ln w="25400">
            <a:solidFill>
              <a:schemeClr val="bg1">
                <a:lumMod val="50000"/>
                <a:lumOff val="50000"/>
                <a:alpha val="25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hlinkClick r:id="rId12"/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202" y="5540172"/>
            <a:ext cx="970156" cy="965726"/>
          </a:xfrm>
          <a:prstGeom prst="rect">
            <a:avLst/>
          </a:prstGeom>
        </p:spPr>
      </p:pic>
      <p:pic>
        <p:nvPicPr>
          <p:cNvPr id="14" name="Picture 13" descr="http://softuni.bg">
            <a:hlinkClick r:id="rId14" tooltip="Software University"/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68" y="1566110"/>
            <a:ext cx="1701050" cy="1570200"/>
          </a:xfrm>
          <a:prstGeom prst="rect">
            <a:avLst/>
          </a:prstGeom>
          <a:ln w="12700">
            <a:solidFill>
              <a:srgbClr val="55438F">
                <a:alpha val="70000"/>
              </a:srgbClr>
            </a:solidFill>
          </a:ln>
        </p:spPr>
      </p:pic>
      <p:pic>
        <p:nvPicPr>
          <p:cNvPr id="9" name="Picture 8">
            <a:hlinkClick r:id="rId4"/>
          </p:cNvPr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932612" y="3213098"/>
            <a:ext cx="2286198" cy="24934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3927632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Software-University-Foundation</Template>
  <TotalTime>0</TotalTime>
  <Words>2273</Words>
  <Application>Microsoft Office PowerPoint</Application>
  <PresentationFormat>Custom</PresentationFormat>
  <Paragraphs>473</Paragraphs>
  <Slides>39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SoftUni 16x9</vt:lpstr>
      <vt:lpstr>По-сложни проверки</vt:lpstr>
      <vt:lpstr>Съдържание</vt:lpstr>
      <vt:lpstr>Вложени проверки</vt:lpstr>
      <vt:lpstr>Вложени проверки</vt:lpstr>
      <vt:lpstr>Пример: Обръщение според възраст и пол</vt:lpstr>
      <vt:lpstr>Решение: Обръщение според възраст и пол</vt:lpstr>
      <vt:lpstr>Пример: Квартално магазинче</vt:lpstr>
      <vt:lpstr>Решение: квартално магазинче</vt:lpstr>
      <vt:lpstr>По-сложни проверки</vt:lpstr>
      <vt:lpstr>Логическо "И"</vt:lpstr>
      <vt:lpstr>Пример: Точка в правоъгълник</vt:lpstr>
      <vt:lpstr>Логическо "ИЛИ"</vt:lpstr>
      <vt:lpstr>Пример: Плод или зеленчук?</vt:lpstr>
      <vt:lpstr>По-сложни проверки</vt:lpstr>
      <vt:lpstr>Логическо отрицание</vt:lpstr>
      <vt:lpstr>Пример: Точка върху страна на правоъгълник</vt:lpstr>
      <vt:lpstr>По-сложни логически условия</vt:lpstr>
      <vt:lpstr>Опростяване на логически условия</vt:lpstr>
      <vt:lpstr>Задачи с по-сложни проверки</vt:lpstr>
      <vt:lpstr>Пример: Магазин за плодове</vt:lpstr>
      <vt:lpstr>Решение: Магазин за плодове</vt:lpstr>
      <vt:lpstr>Пример: Търговски комисионни</vt:lpstr>
      <vt:lpstr>Решение: Търговски комисионни</vt:lpstr>
      <vt:lpstr>Условна конструкция Switch-case</vt:lpstr>
      <vt:lpstr>Условна конструкция Switch-case</vt:lpstr>
      <vt:lpstr>Множество етикети в Switch-case</vt:lpstr>
      <vt:lpstr>Задачи с по-сложни проверки</vt:lpstr>
      <vt:lpstr>Точка и правоъгълник</vt:lpstr>
      <vt:lpstr>Нов Windows Forms проект</vt:lpstr>
      <vt:lpstr>Нареждане на контролите във формата</vt:lpstr>
      <vt:lpstr>Задаване свойства на контролите</vt:lpstr>
      <vt:lpstr>Задаване свойства на контролите (2)</vt:lpstr>
      <vt:lpstr>Прихващане на събития по контролите</vt:lpstr>
      <vt:lpstr>Писане на кода за визуализация</vt:lpstr>
      <vt:lpstr>Точка и правоъгълник</vt:lpstr>
      <vt:lpstr>Какво научихме днес?</vt:lpstr>
      <vt:lpstr>По-сложни проверки</vt:lpstr>
      <vt:lpstr>Лиценз</vt:lpstr>
      <vt:lpstr>Безплатни обучения в СофтУни</vt:lpstr>
    </vt:vector>
  </TitlesOfParts>
  <Manager/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По-сложни проверки</dc:title>
  <dc:subject>Coding 101 Course</dc:subject>
  <dc:creator/>
  <cp:keywords>Sofware University, SoftUni, programming, coding, software development, education, training, course, курс, програмиране, кодене, кодиране, СофтУни</cp:keywords>
  <dc:description>https://softuni.bg/courses/programming-basics/</dc:description>
  <cp:lastModifiedBy/>
  <cp:revision>1</cp:revision>
  <dcterms:created xsi:type="dcterms:W3CDTF">2014-01-02T17:00:34Z</dcterms:created>
  <dcterms:modified xsi:type="dcterms:W3CDTF">2017-01-27T18:07:56Z</dcterms:modified>
  <cp:category>computer programming;programming;C#;програмиране;кодиране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