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2"/>
  </p:sldMasterIdLst>
  <p:notesMasterIdLst>
    <p:notesMasterId r:id="rId38"/>
  </p:notesMasterIdLst>
  <p:handoutMasterIdLst>
    <p:handoutMasterId r:id="rId39"/>
  </p:handoutMasterIdLst>
  <p:sldIdLst>
    <p:sldId id="274" r:id="rId3"/>
    <p:sldId id="276" r:id="rId4"/>
    <p:sldId id="420" r:id="rId5"/>
    <p:sldId id="418" r:id="rId6"/>
    <p:sldId id="428" r:id="rId7"/>
    <p:sldId id="433" r:id="rId8"/>
    <p:sldId id="429" r:id="rId9"/>
    <p:sldId id="434" r:id="rId10"/>
    <p:sldId id="430" r:id="rId11"/>
    <p:sldId id="436" r:id="rId12"/>
    <p:sldId id="438" r:id="rId13"/>
    <p:sldId id="439" r:id="rId14"/>
    <p:sldId id="437" r:id="rId15"/>
    <p:sldId id="442" r:id="rId16"/>
    <p:sldId id="443" r:id="rId17"/>
    <p:sldId id="444" r:id="rId18"/>
    <p:sldId id="451" r:id="rId19"/>
    <p:sldId id="445" r:id="rId20"/>
    <p:sldId id="446" r:id="rId21"/>
    <p:sldId id="440" r:id="rId22"/>
    <p:sldId id="441" r:id="rId23"/>
    <p:sldId id="448" r:id="rId24"/>
    <p:sldId id="449" r:id="rId25"/>
    <p:sldId id="447" r:id="rId26"/>
    <p:sldId id="452" r:id="rId27"/>
    <p:sldId id="453" r:id="rId28"/>
    <p:sldId id="454" r:id="rId29"/>
    <p:sldId id="455" r:id="rId30"/>
    <p:sldId id="457" r:id="rId31"/>
    <p:sldId id="456" r:id="rId32"/>
    <p:sldId id="458" r:id="rId33"/>
    <p:sldId id="427" r:id="rId34"/>
    <p:sldId id="412" r:id="rId35"/>
    <p:sldId id="413" r:id="rId36"/>
    <p:sldId id="414" r:id="rId3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97CC"/>
    <a:srgbClr val="FFF0D9"/>
    <a:srgbClr val="FFA72A"/>
    <a:srgbClr val="F0F5FA"/>
    <a:srgbClr val="1A8AFA"/>
    <a:srgbClr val="FDFFFF"/>
    <a:srgbClr val="603A14"/>
    <a:srgbClr val="E85C0E"/>
    <a:srgbClr val="BAB398"/>
    <a:srgbClr val="ADA485"/>
  </p:clrMru>
  <p:extLst>
    <p:ext uri="{E76CE94A-603C-4142-B9EB-6D1370010A27}">
      <p14:discardImageEditData xmlns:p14="http://schemas.microsoft.com/office/powerpoint/2010/main" xmlns="" val="1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533" autoAdjust="0"/>
  </p:normalViewPr>
  <p:slideViewPr>
    <p:cSldViewPr>
      <p:cViewPr varScale="1">
        <p:scale>
          <a:sx n="75" d="100"/>
          <a:sy n="75" d="100"/>
        </p:scale>
        <p:origin x="-126" y="-84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-6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4" d="100"/>
          <a:sy n="64" d="100"/>
        </p:scale>
        <p:origin x="2592" y="66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pPr/>
              <a:t>3/14/2017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47999"/>
            <a:ext cx="6165000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2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165000" y="8748000"/>
            <a:ext cx="691412" cy="394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 sz="1000"/>
              <a:pPr/>
              <a:t>‹#›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xmlns="" val="423204575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hyperlink" Target="http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52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/>
            </a:lvl1pPr>
          </a:lstStyle>
          <a:p>
            <a:fld id="{F2D8D46A-B586-417D-BFBD-8C8FE0AAF762}" type="datetimeFigureOut">
              <a:rPr lang="en-US" smtClean="0"/>
              <a:pPr/>
              <a:t>3/14/2017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sz="1000" dirty="0" smtClean="0"/>
              <a:t>© Software University Foundation – </a:t>
            </a:r>
            <a:r>
              <a:rPr lang="en-US" sz="1000" u="sng" dirty="0" smtClean="0">
                <a:hlinkClick r:id="rId2"/>
              </a:rPr>
              <a:t>http://softuni.org</a:t>
            </a:r>
            <a:endParaRPr lang="en-US" sz="1000" dirty="0" smtClean="0"/>
          </a:p>
          <a:p>
            <a:r>
              <a:rPr lang="en-US" sz="1000" dirty="0" smtClean="0"/>
              <a:t>This work is licensed under the </a:t>
            </a:r>
            <a:r>
              <a:rPr lang="en-US" sz="1000" u="sng" noProof="1" smtClean="0">
                <a:hlinkClick r:id="rId3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dirty="0" smtClean="0"/>
              <a:t>license.</a:t>
            </a:r>
            <a:endParaRPr lang="en-US" sz="1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8999" y="8747999"/>
            <a:ext cx="547413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3EBA5BD7-F043-4D1B-AA17-CD412FC534D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67057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17780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3619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5397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717550" indent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14151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4749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3964795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609344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12008127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xmlns="" val="2857361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17510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>
                <a:solidFill>
                  <a:prstClr val="black"/>
                </a:solidFill>
              </a:rPr>
              <a:t>© Software University Foundation – </a:t>
            </a:r>
            <a:r>
              <a:rPr lang="en-US" sz="1000" u="sng" smtClean="0">
                <a:solidFill>
                  <a:prstClr val="black"/>
                </a:solidFill>
                <a:hlinkClick r:id="rId3"/>
              </a:rPr>
              <a:t>http://softuni.org</a:t>
            </a:r>
            <a:endParaRPr lang="en-US" sz="1000" smtClean="0">
              <a:solidFill>
                <a:prstClr val="black"/>
              </a:solidFill>
            </a:endParaRPr>
          </a:p>
          <a:p>
            <a:r>
              <a:rPr lang="en-US" sz="1000" smtClean="0">
                <a:solidFill>
                  <a:prstClr val="black"/>
                </a:solidFill>
              </a:rPr>
              <a:t>This work is licensed under the </a:t>
            </a:r>
            <a:r>
              <a:rPr lang="en-US" sz="1000" u="sng" noProof="1" smtClean="0">
                <a:solidFill>
                  <a:prstClr val="black"/>
                </a:solidFill>
                <a:hlinkClick r:id="rId4"/>
              </a:rPr>
              <a:t>Creative Commons Attribution-NonCommercial-ShareAlike</a:t>
            </a:r>
            <a:r>
              <a:rPr lang="en-US" sz="1000" noProof="1" smtClean="0">
                <a:solidFill>
                  <a:prstClr val="black"/>
                </a:solidFill>
              </a:rPr>
              <a:t> </a:t>
            </a:r>
            <a:r>
              <a:rPr lang="en-US" sz="1000" smtClean="0">
                <a:solidFill>
                  <a:prstClr val="black"/>
                </a:solidFill>
              </a:rPr>
              <a:t>license.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3958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960940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smtClean="0"/>
              <a:t>© Software University Foundation – </a:t>
            </a:r>
            <a:r>
              <a:rPr lang="en-US" sz="1000" u="sng" smtClean="0">
                <a:hlinkClick r:id="rId3"/>
              </a:rPr>
              <a:t>http://softuni.org</a:t>
            </a:r>
            <a:endParaRPr lang="en-US" sz="1000" smtClean="0"/>
          </a:p>
          <a:p>
            <a:r>
              <a:rPr lang="en-US" sz="1000" smtClean="0"/>
              <a:t>This work is licensed under the </a:t>
            </a:r>
            <a:r>
              <a:rPr lang="en-US" sz="1000" u="sng" noProof="1" smtClean="0">
                <a:hlinkClick r:id="rId4"/>
              </a:rPr>
              <a:t>Creative Commons Attribution-NonCommercial-ShareAlike</a:t>
            </a:r>
            <a:r>
              <a:rPr lang="en-US" sz="1000" noProof="1" smtClean="0"/>
              <a:t> </a:t>
            </a:r>
            <a:r>
              <a:rPr lang="en-US" sz="1000" smtClean="0"/>
              <a:t>license.</a:t>
            </a:r>
            <a:endParaRPr lang="en-US" sz="1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7160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judge.softuni.bg/" TargetMode="External"/><Relationship Id="rId13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hyperlink" Target="http://forum.softuni.bg/" TargetMode="External"/><Relationship Id="rId12" Type="http://schemas.openxmlformats.org/officeDocument/2006/relationships/hyperlink" Target="http://www.introprogramming.info/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www.nakov.com/" TargetMode="External"/><Relationship Id="rId11" Type="http://schemas.openxmlformats.org/officeDocument/2006/relationships/hyperlink" Target="http://www.youtube.com/SoftwareUniversity" TargetMode="External"/><Relationship Id="rId5" Type="http://schemas.openxmlformats.org/officeDocument/2006/relationships/hyperlink" Target="http://softuni.org/" TargetMode="External"/><Relationship Id="rId10" Type="http://schemas.openxmlformats.org/officeDocument/2006/relationships/hyperlink" Target="https://twitter.com/softunibg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hyperlink" Target="https://www.facebook.com/SoftwareUniversity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bg bwMode="grayWhite"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66413" y="314301"/>
            <a:ext cx="7382341" cy="2000251"/>
          </a:xfrm>
        </p:spPr>
        <p:txBody>
          <a:bodyPr lIns="0" tIns="0" rIns="0" bIns="0">
            <a:normAutofit/>
          </a:bodyPr>
          <a:lstStyle>
            <a:lvl1pPr algn="r">
              <a:defRPr sz="5400">
                <a:solidFill>
                  <a:srgbClr val="F6D18E"/>
                </a:solidFill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66413" y="2346299"/>
            <a:ext cx="7382341" cy="175260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Presentation Subtitle</a:t>
            </a:r>
            <a:endParaRPr dirty="0"/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760412" y="4164083"/>
            <a:ext cx="3187613" cy="5251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b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baseline="0" dirty="0" smtClean="0">
                <a:solidFill>
                  <a:srgbClr val="EE792A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3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366413" y="4191000"/>
            <a:ext cx="7382341" cy="1905000"/>
          </a:xfrm>
          <a:prstGeom prst="rect">
            <a:avLst/>
          </a:prstGeom>
        </p:spPr>
        <p:txBody>
          <a:bodyPr lIns="108000" tIns="36000" rIns="108000" bIns="36000"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  <p:sp>
        <p:nvSpPr>
          <p:cNvPr id="32" name="Text Placeholder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760413" y="4633982"/>
            <a:ext cx="3187614" cy="44434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rgbClr val="F4B36C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33" name="Text Placeholder 1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760412" y="5011671"/>
            <a:ext cx="3187613" cy="395869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Web Site</a:t>
            </a:r>
            <a:endParaRPr lang="en-US" dirty="0"/>
          </a:p>
        </p:txBody>
      </p:sp>
      <p:sp>
        <p:nvSpPr>
          <p:cNvPr id="34" name="Text Placeholder 13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760412" y="5394605"/>
            <a:ext cx="3187613" cy="363552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Name</a:t>
            </a:r>
            <a:endParaRPr lang="en-US" dirty="0"/>
          </a:p>
        </p:txBody>
      </p:sp>
      <p:sp>
        <p:nvSpPr>
          <p:cNvPr id="35" name="Text Placeholder 13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760412" y="5735767"/>
            <a:ext cx="3187613" cy="331235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F27A44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Company Web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847488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0413" y="1151121"/>
            <a:ext cx="11804822" cy="5570355"/>
          </a:xfrm>
        </p:spPr>
        <p:txBody>
          <a:bodyPr/>
          <a:lstStyle>
            <a:lvl1pPr>
              <a:defRPr sz="3400"/>
            </a:lvl1pPr>
            <a:lvl2pPr>
              <a:defRPr sz="3200"/>
            </a:lvl2pPr>
            <a:lvl3pPr>
              <a:defRPr sz="3000"/>
            </a:lvl3pPr>
            <a:lvl4pPr>
              <a:defRPr sz="2800"/>
            </a:lvl4pPr>
            <a:lvl5pPr>
              <a:defRPr sz="2600"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Level`</a:t>
            </a:r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Slide Title</a:t>
            </a: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14067690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2813" y="4953000"/>
            <a:ext cx="10363200" cy="820600"/>
          </a:xfrm>
        </p:spPr>
        <p:txBody>
          <a:bodyPr wrap="square" lIns="36000" tIns="36000" rIns="36000" bIns="36000" anchor="b">
            <a:spAutoFit/>
          </a:bodyPr>
          <a:lstStyle>
            <a:lvl1pPr algn="ctr">
              <a:defRPr sz="5400" b="1" cap="none" baseline="0"/>
            </a:lvl1pPr>
          </a:lstStyle>
          <a:p>
            <a:r>
              <a:rPr lang="en-US" dirty="0" smtClean="0"/>
              <a:t>Click to Edit Section Title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12813" y="5754968"/>
            <a:ext cx="10363200" cy="719034"/>
          </a:xfrm>
        </p:spPr>
        <p:txBody>
          <a:bodyPr wrap="square" lIns="36000" tIns="36000" rIns="36000" bIns="36000" anchor="t">
            <a:spAutoFit/>
          </a:bodyPr>
          <a:lstStyle>
            <a:lvl1pPr marL="0" indent="0" algn="ctr">
              <a:spcBef>
                <a:spcPts val="0"/>
              </a:spcBef>
              <a:buNone/>
              <a:defRPr sz="4000" cap="none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2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Section Subtitle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28212" y="228600"/>
            <a:ext cx="217552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616330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17247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 Slide">
    <p:bg>
      <p:bgPr>
        <a:blipFill dpi="0" rotWithShape="1">
          <a:blip r:embed="rId2" cstate="print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1529384" y="6400802"/>
            <a:ext cx="10482604" cy="363552"/>
          </a:xfrm>
          <a:prstGeom prst="rect">
            <a:avLst/>
          </a:prstGeom>
        </p:spPr>
        <p:txBody>
          <a:bodyPr wrap="square" lIns="36000" rIns="36000">
            <a:spAutoFit/>
          </a:bodyPr>
          <a:lstStyle>
            <a:lvl1pPr marL="0" indent="0" algn="r">
              <a:buNone/>
              <a:defRPr sz="1800">
                <a:latin typeface="+mn-lt"/>
              </a:defRPr>
            </a:lvl1pPr>
          </a:lstStyle>
          <a:p>
            <a:pPr lvl="0"/>
            <a:r>
              <a:rPr lang="en-US" dirty="0" smtClean="0"/>
              <a:t>Course Web Site</a:t>
            </a:r>
            <a:endParaRPr lang="en-US" dirty="0"/>
          </a:p>
        </p:txBody>
      </p:sp>
      <p:pic>
        <p:nvPicPr>
          <p:cNvPr id="55" name="Picture 5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tretch>
            <a:fillRect/>
          </a:stretch>
        </p:blipFill>
        <p:spPr>
          <a:xfrm>
            <a:off x="9838412" y="261000"/>
            <a:ext cx="2050131" cy="670675"/>
          </a:xfrm>
          <a:prstGeom prst="rect">
            <a:avLst/>
          </a:prstGeom>
        </p:spPr>
      </p:pic>
      <p:sp>
        <p:nvSpPr>
          <p:cNvPr id="50" name="Title 1"/>
          <p:cNvSpPr>
            <a:spLocks noGrp="1"/>
          </p:cNvSpPr>
          <p:nvPr>
            <p:ph type="title" hasCustomPrompt="1"/>
          </p:nvPr>
        </p:nvSpPr>
        <p:spPr>
          <a:xfrm>
            <a:off x="188815" y="40341"/>
            <a:ext cx="9577597" cy="1110780"/>
          </a:xfrm>
        </p:spPr>
        <p:txBody>
          <a:bodyPr/>
          <a:lstStyle>
            <a:lvl1pPr>
              <a:defRPr>
                <a:solidFill>
                  <a:srgbClr val="F3BE60"/>
                </a:solidFill>
                <a:effectLst/>
              </a:defRPr>
            </a:lvl1pPr>
          </a:lstStyle>
          <a:p>
            <a:r>
              <a:rPr lang="en-US" dirty="0" smtClean="0"/>
              <a:t>Presentation Title</a:t>
            </a:r>
            <a:endParaRPr dirty="0"/>
          </a:p>
        </p:txBody>
      </p:sp>
      <p:sp>
        <p:nvSpPr>
          <p:cNvPr id="2" name="TextBox 1">
            <a:hlinkClick r:id="rId4" tooltip="Software University - Quality Education, Profession and Job for Software Engineers"/>
          </p:cNvPr>
          <p:cNvSpPr txBox="1"/>
          <p:nvPr userDrawn="1"/>
        </p:nvSpPr>
        <p:spPr>
          <a:xfrm rot="322982">
            <a:off x="10066442" y="2253546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27" name="TextBox 26">
            <a:hlinkClick r:id="rId5" tooltip="Software University Foundaton"/>
          </p:cNvPr>
          <p:cNvSpPr txBox="1"/>
          <p:nvPr userDrawn="1"/>
        </p:nvSpPr>
        <p:spPr>
          <a:xfrm rot="20630519">
            <a:off x="7568290" y="4341197"/>
            <a:ext cx="303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rgbClr val="603A14"/>
                </a:solidFill>
              </a:rPr>
              <a:t>?</a:t>
            </a:r>
            <a:endParaRPr lang="en-US" sz="2000" b="1" dirty="0">
              <a:solidFill>
                <a:srgbClr val="603A14"/>
              </a:solidFill>
            </a:endParaRPr>
          </a:p>
        </p:txBody>
      </p:sp>
      <p:sp>
        <p:nvSpPr>
          <p:cNvPr id="51" name="TextBox 50">
            <a:hlinkClick r:id="rId6" tooltip="Svetlin Nakov - Programming and Education for Developers"/>
          </p:cNvPr>
          <p:cNvSpPr txBox="1"/>
          <p:nvPr userDrawn="1"/>
        </p:nvSpPr>
        <p:spPr>
          <a:xfrm>
            <a:off x="11500162" y="4679637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2" name="TextBox 51">
            <a:hlinkClick r:id="rId7" tooltip="Software University - Discussion Forum"/>
          </p:cNvPr>
          <p:cNvSpPr txBox="1"/>
          <p:nvPr userDrawn="1"/>
        </p:nvSpPr>
        <p:spPr>
          <a:xfrm rot="20971262">
            <a:off x="6094412" y="610908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3" name="TextBox 52">
            <a:hlinkClick r:id="rId8" tooltip="Software University - Online Judge System"/>
          </p:cNvPr>
          <p:cNvSpPr txBox="1"/>
          <p:nvPr userDrawn="1"/>
        </p:nvSpPr>
        <p:spPr>
          <a:xfrm rot="569019">
            <a:off x="9155998" y="4032736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 smtClean="0">
                <a:solidFill>
                  <a:srgbClr val="603A14"/>
                </a:solidFill>
              </a:rPr>
              <a:t>?</a:t>
            </a:r>
            <a:endParaRPr lang="en-US" sz="1800" b="1" dirty="0">
              <a:solidFill>
                <a:srgbClr val="603A14"/>
              </a:solidFill>
            </a:endParaRPr>
          </a:p>
        </p:txBody>
      </p:sp>
      <p:sp>
        <p:nvSpPr>
          <p:cNvPr id="54" name="TextBox 53">
            <a:hlinkClick r:id="rId9" tooltip="Software University @ Facebook"/>
          </p:cNvPr>
          <p:cNvSpPr txBox="1"/>
          <p:nvPr userDrawn="1"/>
        </p:nvSpPr>
        <p:spPr>
          <a:xfrm rot="219682">
            <a:off x="7047355" y="2560119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603A14"/>
                </a:solidFill>
              </a:rPr>
              <a:t>?</a:t>
            </a:r>
            <a:endParaRPr lang="en-US" sz="2400" b="1" dirty="0">
              <a:solidFill>
                <a:srgbClr val="603A14"/>
              </a:solidFill>
            </a:endParaRPr>
          </a:p>
        </p:txBody>
      </p:sp>
      <p:sp>
        <p:nvSpPr>
          <p:cNvPr id="56" name="TextBox 55">
            <a:hlinkClick r:id="rId10" tooltip="Software University @ Twitter"/>
          </p:cNvPr>
          <p:cNvSpPr txBox="1"/>
          <p:nvPr userDrawn="1"/>
        </p:nvSpPr>
        <p:spPr>
          <a:xfrm rot="20972266">
            <a:off x="11754532" y="232084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sp>
        <p:nvSpPr>
          <p:cNvPr id="57" name="TextBox 56">
            <a:hlinkClick r:id="rId11" tooltip="Software University @ YouTube - free training courses and video lessons for software engineers"/>
          </p:cNvPr>
          <p:cNvSpPr txBox="1"/>
          <p:nvPr userDrawn="1"/>
        </p:nvSpPr>
        <p:spPr>
          <a:xfrm rot="562174">
            <a:off x="11774596" y="3447926"/>
            <a:ext cx="255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603A14"/>
                </a:solidFill>
              </a:rPr>
              <a:t>?</a:t>
            </a:r>
            <a:endParaRPr lang="en-US" sz="1200" dirty="0">
              <a:solidFill>
                <a:srgbClr val="603A14"/>
              </a:solidFill>
            </a:endParaRPr>
          </a:p>
        </p:txBody>
      </p:sp>
      <p:sp>
        <p:nvSpPr>
          <p:cNvPr id="58" name="TextBox 57">
            <a:hlinkClick r:id="rId12" tooltip="Programming Fundamentals Book and Vide Lessons: Learn C#, Programming, Data Structures, Algorithms and Quality Coding"/>
          </p:cNvPr>
          <p:cNvSpPr txBox="1"/>
          <p:nvPr userDrawn="1"/>
        </p:nvSpPr>
        <p:spPr>
          <a:xfrm rot="571210">
            <a:off x="11136783" y="5625911"/>
            <a:ext cx="2680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rgbClr val="603A14"/>
                </a:solidFill>
              </a:rPr>
              <a:t>?</a:t>
            </a:r>
            <a:endParaRPr lang="en-US" sz="1400" dirty="0">
              <a:solidFill>
                <a:srgbClr val="603A14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 rot="20967714">
            <a:off x="457076" y="2405125"/>
            <a:ext cx="2338944" cy="2395502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 rot="20949717">
            <a:off x="2718532" y="3306088"/>
            <a:ext cx="4540980" cy="948072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bg-BG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Въпроси</a:t>
            </a:r>
            <a:r>
              <a:rPr lang="en-US" sz="6600" b="1" kern="1200" noProof="0" dirty="0" smtClean="0">
                <a:solidFill>
                  <a:srgbClr val="F3BE60"/>
                </a:solidFill>
                <a:latin typeface="+mj-lt"/>
                <a:ea typeface="+mj-ea"/>
                <a:cs typeface="+mj-cs"/>
              </a:rPr>
              <a:t>?</a:t>
            </a:r>
            <a:endParaRPr lang="en-US" sz="6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887996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814" y="6525002"/>
            <a:ext cx="1223999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373AC-9AA7-423B-BA00-BA1C74164DBD}" type="datetime1">
              <a:rPr lang="en-US" smtClean="0"/>
              <a:pPr/>
              <a:t>3/14/2017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14412" y="6525002"/>
            <a:ext cx="10150400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0403" y="39574"/>
            <a:ext cx="11806432" cy="1111549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413" y="1151123"/>
            <a:ext cx="11804822" cy="5570353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xmlns="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7" r:id="rId4"/>
    <p:sldLayoutId id="2147483672" r:id="rId5"/>
  </p:sldLayoutIdLst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F3BE60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F2B254"/>
        </a:buClr>
        <a:buSzPct val="100000"/>
        <a:buFont typeface="Wingdings" panose="05000000000000000000" pitchFamily="2" charset="2"/>
        <a:buChar char="§"/>
        <a:defRPr sz="3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chemeClr val="accent1"/>
        </a:buClr>
        <a:buSzPct val="80000"/>
        <a:buFont typeface="Wingdings" panose="05000000000000000000" pitchFamily="2" charset="2"/>
        <a:buChar char="§"/>
        <a:defRPr sz="32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F9A1D"/>
        </a:buClr>
        <a:buSzPct val="80000"/>
        <a:buFont typeface="Wingdings" panose="05000000000000000000" pitchFamily="2" charset="2"/>
        <a:buChar char="§"/>
        <a:defRPr sz="30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D9411"/>
        </a:buClr>
        <a:buSzPct val="80000"/>
        <a:buFont typeface="Wingdings" panose="05000000000000000000" pitchFamily="2" charset="2"/>
        <a:buChar char="§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6" algn="l" defTabSz="1218987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Clr>
          <a:srgbClr val="E28D10"/>
        </a:buClr>
        <a:buSzPct val="80000"/>
        <a:buFont typeface="Wingdings" panose="05000000000000000000" pitchFamily="2" charset="2"/>
        <a:buChar char="§"/>
        <a:defRPr sz="2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2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6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2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6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F26B43"/>
          </p15:clr>
        </p15:guide>
        <p15:guide id="2" pos="184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softuni.bg/" TargetMode="External"/><Relationship Id="rId3" Type="http://schemas.openxmlformats.org/officeDocument/2006/relationships/hyperlink" Target="http://creativecommons.org/licenses/by-nc-sa/4.0/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oftuni.org/" TargetMode="External"/><Relationship Id="rId5" Type="http://schemas.openxmlformats.org/officeDocument/2006/relationships/image" Target="../media/image9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judge.softuni.bg/Contests/Practice/Index/15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Practice/Index/15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Practice/Index/155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Practice/Index/15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judge.softuni.bg/Contests/Practice/Index/15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1.png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http://komfo.com/" TargetMode="External"/><Relationship Id="rId13" Type="http://schemas.openxmlformats.org/officeDocument/2006/relationships/image" Target="../media/image32.png"/><Relationship Id="rId18" Type="http://schemas.openxmlformats.org/officeDocument/2006/relationships/hyperlink" Target="http://netpeak.bg/" TargetMode="External"/><Relationship Id="rId3" Type="http://schemas.openxmlformats.org/officeDocument/2006/relationships/hyperlink" Target="https://softuni.bg/courses/programming-basics/" TargetMode="External"/><Relationship Id="rId21" Type="http://schemas.openxmlformats.org/officeDocument/2006/relationships/image" Target="../media/image36.png"/><Relationship Id="rId7" Type="http://schemas.openxmlformats.org/officeDocument/2006/relationships/image" Target="../media/image29.png"/><Relationship Id="rId12" Type="http://schemas.openxmlformats.org/officeDocument/2006/relationships/hyperlink" Target="http://www.softwaregroup-bg.com/" TargetMode="External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6" Type="http://schemas.openxmlformats.org/officeDocument/2006/relationships/hyperlink" Target="http://www.infragistics.com/" TargetMode="External"/><Relationship Id="rId20" Type="http://schemas.openxmlformats.org/officeDocument/2006/relationships/hyperlink" Target="http://www.superhosting.bg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xs-software.com/" TargetMode="External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5" Type="http://schemas.openxmlformats.org/officeDocument/2006/relationships/image" Target="../media/image33.png"/><Relationship Id="rId10" Type="http://schemas.openxmlformats.org/officeDocument/2006/relationships/hyperlink" Target="http://smartit.bg/" TargetMode="External"/><Relationship Id="rId19" Type="http://schemas.openxmlformats.org/officeDocument/2006/relationships/image" Target="../media/image35.png"/><Relationship Id="rId4" Type="http://schemas.openxmlformats.org/officeDocument/2006/relationships/hyperlink" Target="http://www.luxoft.com/" TargetMode="External"/><Relationship Id="rId9" Type="http://schemas.openxmlformats.org/officeDocument/2006/relationships/image" Target="../media/image30.png"/><Relationship Id="rId14" Type="http://schemas.openxmlformats.org/officeDocument/2006/relationships/hyperlink" Target="http://www.indeavr.com/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hyperlink" Target="http://www.introprogramming.info/intro-csharp-book/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://www.facebook.com/SoftwareUniversity" TargetMode="External"/><Relationship Id="rId13" Type="http://schemas.openxmlformats.org/officeDocument/2006/relationships/image" Target="../media/image40.png"/><Relationship Id="rId3" Type="http://schemas.openxmlformats.org/officeDocument/2006/relationships/hyperlink" Target="http://softuni.org/" TargetMode="External"/><Relationship Id="rId7" Type="http://schemas.openxmlformats.org/officeDocument/2006/relationships/image" Target="../media/image6.png"/><Relationship Id="rId12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forum.softuni.bg/" TargetMode="External"/><Relationship Id="rId11" Type="http://schemas.openxmlformats.org/officeDocument/2006/relationships/image" Target="../media/image39.png"/><Relationship Id="rId5" Type="http://schemas.openxmlformats.org/officeDocument/2006/relationships/hyperlink" Target="https://www.facebook.com/SoftwareUniversity" TargetMode="External"/><Relationship Id="rId10" Type="http://schemas.openxmlformats.org/officeDocument/2006/relationships/hyperlink" Target="https://softuni.bg/forum" TargetMode="External"/><Relationship Id="rId4" Type="http://schemas.openxmlformats.org/officeDocument/2006/relationships/hyperlink" Target="http://softuni.bg/" TargetMode="External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3275012" y="685800"/>
            <a:ext cx="8215099" cy="1095352"/>
          </a:xfrm>
        </p:spPr>
        <p:txBody>
          <a:bodyPr>
            <a:normAutofit/>
          </a:bodyPr>
          <a:lstStyle/>
          <a:p>
            <a:r>
              <a:rPr lang="bg-BG" dirty="0" smtClean="0"/>
              <a:t>Чертане с цикли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3275012" y="1861402"/>
            <a:ext cx="8215099" cy="701700"/>
          </a:xfrm>
        </p:spPr>
        <p:txBody>
          <a:bodyPr>
            <a:normAutofit/>
          </a:bodyPr>
          <a:lstStyle/>
          <a:p>
            <a:r>
              <a:rPr lang="bg-BG" dirty="0" smtClean="0"/>
              <a:t>Чертане на фигурки на конзолата</a:t>
            </a:r>
            <a:endParaRPr lang="en-US" dirty="0"/>
          </a:p>
        </p:txBody>
      </p:sp>
      <p:pic>
        <p:nvPicPr>
          <p:cNvPr id="102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745783" y="3219091"/>
            <a:ext cx="2175525" cy="76116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50000"/>
              </a:schemeClr>
            </a:solidFill>
          </a:ln>
          <a:extLst/>
        </p:spPr>
      </p:pic>
      <p:pic>
        <p:nvPicPr>
          <p:cNvPr id="13" name="Picture 12" descr="http://softuni.b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flipH="1">
            <a:off x="4037011" y="3505200"/>
            <a:ext cx="2405705" cy="264010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576164">
            <a:off x="5849425" y="3384408"/>
            <a:ext cx="1473480" cy="7229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bg-BG" b="1" spc="50" dirty="0" smtClean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рисуване</a:t>
            </a:r>
            <a:br>
              <a:rPr lang="bg-BG" b="1" spc="50" dirty="0" smtClean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</a:br>
            <a:r>
              <a:rPr lang="bg-BG" b="1" spc="50" dirty="0" smtClean="0">
                <a:ln w="9525" cmpd="sng">
                  <a:solidFill>
                    <a:srgbClr val="FFA72A"/>
                  </a:solidFill>
                  <a:prstDash val="solid"/>
                </a:ln>
                <a:solidFill>
                  <a:srgbClr val="FFF0D9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с цикли</a:t>
            </a:r>
            <a:endParaRPr lang="en-US" b="1" spc="50" dirty="0">
              <a:ln w="9525" cmpd="sng">
                <a:solidFill>
                  <a:srgbClr val="FFA72A"/>
                </a:solidFill>
                <a:prstDash val="solid"/>
              </a:ln>
              <a:solidFill>
                <a:srgbClr val="FFF0D9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7" name="Picture 16" descr="http://softuni.org">
            <a:hlinkClick r:id="rId6" tooltip="Software University Foundation"/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 l="-5359" t="-15226" r="-5359" b="-15226"/>
          <a:stretch/>
        </p:blipFill>
        <p:spPr>
          <a:xfrm>
            <a:off x="745783" y="2057400"/>
            <a:ext cx="2175525" cy="83855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sp>
        <p:nvSpPr>
          <p:cNvPr id="23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684212" y="4604899"/>
            <a:ext cx="3187613" cy="525135"/>
          </a:xfrm>
        </p:spPr>
        <p:txBody>
          <a:bodyPr/>
          <a:lstStyle/>
          <a:p>
            <a:r>
              <a:rPr lang="bg-BG" noProof="1" smtClean="0"/>
              <a:t>СофтУни</a:t>
            </a:r>
            <a:endParaRPr lang="en-US" noProof="1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84213" y="5074798"/>
            <a:ext cx="3187614" cy="444343"/>
          </a:xfrm>
        </p:spPr>
        <p:txBody>
          <a:bodyPr/>
          <a:lstStyle/>
          <a:p>
            <a:r>
              <a:rPr lang="bg-BG" noProof="1" smtClean="0"/>
              <a:t>трейнърски</a:t>
            </a:r>
            <a:r>
              <a:rPr lang="bg-BG" dirty="0" smtClean="0"/>
              <a:t> екип</a:t>
            </a:r>
            <a:endParaRPr lang="en-US" dirty="0"/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84212" y="5479925"/>
            <a:ext cx="3187613" cy="382788"/>
          </a:xfrm>
        </p:spPr>
        <p:txBody>
          <a:bodyPr/>
          <a:lstStyle/>
          <a:p>
            <a:r>
              <a:rPr lang="bg-BG" sz="2000" dirty="0" smtClean="0"/>
              <a:t>Софтуерен университет</a:t>
            </a:r>
            <a:endParaRPr lang="en-US" sz="2000" dirty="0"/>
          </a:p>
        </p:txBody>
      </p:sp>
      <p:sp>
        <p:nvSpPr>
          <p:cNvPr id="26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684212" y="5820446"/>
            <a:ext cx="3187613" cy="351754"/>
          </a:xfrm>
        </p:spPr>
        <p:txBody>
          <a:bodyPr/>
          <a:lstStyle/>
          <a:p>
            <a:r>
              <a:rPr lang="en-US" sz="1800" dirty="0">
                <a:hlinkClick r:id="rId8"/>
              </a:rPr>
              <a:t>http://</a:t>
            </a:r>
            <a:r>
              <a:rPr lang="en-US" sz="1800" dirty="0" smtClean="0">
                <a:hlinkClick r:id="rId8"/>
              </a:rPr>
              <a:t>softuni.bg</a:t>
            </a:r>
            <a:endParaRPr lang="en-US" sz="1800" dirty="0"/>
          </a:p>
        </p:txBody>
      </p:sp>
      <p:grpSp>
        <p:nvGrpSpPr>
          <p:cNvPr id="2" name="Group 1"/>
          <p:cNvGrpSpPr/>
          <p:nvPr/>
        </p:nvGrpSpPr>
        <p:grpSpPr>
          <a:xfrm>
            <a:off x="7558417" y="2590216"/>
            <a:ext cx="4173548" cy="3618333"/>
            <a:chOff x="7340506" y="2293756"/>
            <a:chExt cx="4594703" cy="391479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26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34963" y="2293756"/>
              <a:ext cx="2300246" cy="20955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3215379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Съдържание</a:t>
            </a:r>
            <a:endParaRPr lang="bg-BG" dirty="0"/>
          </a:p>
        </p:txBody>
      </p:sp>
      <p:sp>
        <p:nvSpPr>
          <p:cNvPr id="44441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90414" y="1191467"/>
            <a:ext cx="7808997" cy="553001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bg-BG" dirty="0"/>
              <a:t>Чертане на прости </a:t>
            </a:r>
            <a:r>
              <a:rPr lang="bg-BG" dirty="0" smtClean="0"/>
              <a:t>фигури 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for</a:t>
            </a:r>
            <a:r>
              <a:rPr lang="en-US" dirty="0" smtClean="0"/>
              <a:t>-</a:t>
            </a:r>
            <a:r>
              <a:rPr lang="bg-BG" dirty="0" smtClean="0"/>
              <a:t>цикъл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bg-BG" dirty="0" smtClean="0"/>
              <a:t>Вложени цикли</a:t>
            </a:r>
            <a:r>
              <a:rPr lang="en-US" dirty="0" smtClean="0"/>
              <a:t> (</a:t>
            </a:r>
            <a:r>
              <a:rPr lang="bg-BG" dirty="0" smtClean="0"/>
              <a:t>цикъл в цикъл)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bg-BG" dirty="0" smtClean="0"/>
              <a:t>Задачи за чертане: правоъгълници, квадрати, триъгълници, ромбове, …</a:t>
            </a:r>
            <a:endParaRPr lang="en-US" dirty="0" smtClean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bg-BG" dirty="0" smtClean="0"/>
              <a:t>Чертане на по-сложни фигури</a:t>
            </a:r>
            <a:endParaRPr lang="en-US" dirty="0" smtClean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bg-BG" dirty="0" smtClean="0"/>
              <a:t>Уеб приложение за чертане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bg-BG" dirty="0" smtClean="0"/>
              <a:t>с </a:t>
            </a:r>
            <a:r>
              <a:rPr lang="en-US" dirty="0" smtClean="0"/>
              <a:t>ASP.NET MVC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</p:spPr>
        <p:txBody>
          <a:bodyPr/>
          <a:lstStyle/>
          <a:p>
            <a:fld id="{C014DD1E-5D91-48A3-AD6D-45FBA980D10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04222" y="1423766"/>
            <a:ext cx="3800782" cy="4900834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9656129" y="1118195"/>
            <a:ext cx="2153283" cy="1787997"/>
            <a:chOff x="7340506" y="2208490"/>
            <a:chExt cx="4523032" cy="400006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90745" y="2208490"/>
              <a:ext cx="2172793" cy="21727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xmlns="" val="16469869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724400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прости фигури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651472"/>
            <a:ext cx="10363200" cy="719034"/>
          </a:xfrm>
        </p:spPr>
        <p:txBody>
          <a:bodyPr/>
          <a:lstStyle/>
          <a:p>
            <a:r>
              <a:rPr lang="bg-BG" dirty="0" smtClean="0"/>
              <a:t>Използване на </a:t>
            </a:r>
            <a:r>
              <a:rPr lang="en-US" b="1" dirty="0" smtClean="0">
                <a:latin typeface="Consolas" panose="020B0609020204030204" pitchFamily="49" charset="0"/>
              </a:rPr>
              <a:t>for</a:t>
            </a:r>
            <a:r>
              <a:rPr lang="en-US" dirty="0" smtClean="0"/>
              <a:t>-</a:t>
            </a:r>
            <a:r>
              <a:rPr lang="bg-BG" dirty="0" smtClean="0"/>
              <a:t>цикъл за чертане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979612" y="587881"/>
            <a:ext cx="4328441" cy="3831719"/>
            <a:chOff x="7340506" y="2376831"/>
            <a:chExt cx="4328441" cy="383171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79388" y="2376831"/>
              <a:ext cx="1989559" cy="1989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33495" y="1552276"/>
            <a:ext cx="3023317" cy="2692822"/>
          </a:xfrm>
          <a:prstGeom prst="roundRect">
            <a:avLst>
              <a:gd name="adj" fmla="val 4420"/>
            </a:avLst>
          </a:prstGeom>
          <a:ln>
            <a:solidFill>
              <a:schemeClr val="tx1">
                <a:lumMod val="50000"/>
              </a:schemeClr>
            </a:solidFill>
          </a:ln>
          <a:scene3d>
            <a:camera prst="perspectiveHeroicExtremeLeftFacing" fov="3600000">
              <a:rot lat="53248" lon="784136" rev="159792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xmlns="" val="372496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3200" dirty="0" smtClean="0"/>
              <a:t>Да се начертае на конзолата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правоъгълник от 10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x 1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0 звездички</a:t>
            </a:r>
            <a:r>
              <a:rPr lang="bg-BG" sz="3200" dirty="0" smtClean="0"/>
              <a:t>:</a:t>
            </a:r>
            <a:endParaRPr lang="en-US" sz="3200" dirty="0" smtClean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en-US" sz="3200" dirty="0" smtClean="0"/>
          </a:p>
          <a:p>
            <a:pPr>
              <a:lnSpc>
                <a:spcPct val="110000"/>
              </a:lnSpc>
            </a:pPr>
            <a:endParaRPr lang="en-US" sz="3200" dirty="0"/>
          </a:p>
          <a:p>
            <a:pPr>
              <a:lnSpc>
                <a:spcPct val="110000"/>
              </a:lnSpc>
            </a:pPr>
            <a:endParaRPr lang="bg-BG" sz="3200" dirty="0" smtClean="0"/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bg-BG" sz="3200" dirty="0" smtClean="0"/>
              <a:t>Как работи примерът?</a:t>
            </a:r>
          </a:p>
          <a:p>
            <a:pPr lvl="1">
              <a:lnSpc>
                <a:spcPct val="110000"/>
              </a:lnSpc>
            </a:pPr>
            <a:r>
              <a:rPr lang="bg-BG" sz="3000" dirty="0" smtClean="0"/>
              <a:t>10 пъти печата стринг, който се състои от 10 на брой звездички</a:t>
            </a:r>
            <a:endParaRPr lang="en-US" sz="30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Правоъгълник от 10 </a:t>
            </a:r>
            <a:r>
              <a:rPr lang="en-US" dirty="0" smtClean="0"/>
              <a:t>x</a:t>
            </a:r>
            <a:r>
              <a:rPr lang="bg-BG" dirty="0" smtClean="0"/>
              <a:t> 10 звездички</a:t>
            </a:r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836614" y="2057400"/>
            <a:ext cx="10515598" cy="216059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(var i =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i &lt;=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10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i++)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Console.WriteLine(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 string('*', 10</a:t>
            </a:r>
            <a:r>
              <a:rPr lang="bg-BG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0412" y="6019800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#0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407762" y="1845352"/>
            <a:ext cx="2065620" cy="329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564673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3200" dirty="0" smtClean="0"/>
              <a:t>Да се начертае на конзолата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правоъгълник от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x N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 звездички</a:t>
            </a:r>
            <a:r>
              <a:rPr lang="bg-BG" sz="3200" dirty="0" smtClean="0"/>
              <a:t>:</a:t>
            </a:r>
            <a:endParaRPr lang="en-US" sz="3200" dirty="0" smtClean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Правоъгълник от </a:t>
            </a:r>
            <a:r>
              <a:rPr lang="en-US" dirty="0" smtClean="0"/>
              <a:t>N</a:t>
            </a:r>
            <a:r>
              <a:rPr lang="bg-BG" dirty="0" smtClean="0"/>
              <a:t> </a:t>
            </a:r>
            <a:r>
              <a:rPr lang="en-US" dirty="0" smtClean="0"/>
              <a:t>x</a:t>
            </a:r>
            <a:r>
              <a:rPr lang="bg-BG" dirty="0" smtClean="0"/>
              <a:t> </a:t>
            </a:r>
            <a:r>
              <a:rPr lang="en-US" dirty="0" smtClean="0"/>
              <a:t>N</a:t>
            </a:r>
            <a:r>
              <a:rPr lang="bg-BG" dirty="0" smtClean="0"/>
              <a:t> звездички</a:t>
            </a:r>
            <a:endParaRPr 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760414" y="2130240"/>
            <a:ext cx="10667998" cy="341632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int.Parse(Console.ReadLine());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(var i =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i &lt;=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i++)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Console.WriteLine(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 string('*', n</a:t>
            </a:r>
            <a:r>
              <a:rPr lang="bg-BG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lnSpc>
                <a:spcPct val="12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412" y="5862935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#1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1612" y="3426905"/>
            <a:ext cx="4786200" cy="203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337008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92928" y="4267200"/>
            <a:ext cx="9854484" cy="1638837"/>
          </a:xfrm>
          <a:prstGeom prst="rect">
            <a:avLst/>
          </a:prstGeom>
          <a:solidFill>
            <a:schemeClr val="accent1">
              <a:alpha val="25000"/>
            </a:schemeClr>
          </a:solidFill>
          <a:ln w="28575">
            <a:solidFill>
              <a:schemeClr val="tx2">
                <a:lumMod val="7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Вложени цикли </a:t>
            </a:r>
            <a:r>
              <a:rPr lang="bg-BG" dirty="0" smtClean="0"/>
              <a:t>== цикъл съдържа в себе си друг цикъл</a:t>
            </a:r>
          </a:p>
          <a:p>
            <a:pPr lvl="1"/>
            <a:r>
              <a:rPr lang="bg-BG" dirty="0" smtClean="0"/>
              <a:t>Двата цикъла въртят различни променливи</a:t>
            </a:r>
          </a:p>
          <a:p>
            <a:r>
              <a:rPr lang="bg-BG" dirty="0" smtClean="0"/>
              <a:t>Пример: външен цикъл </a:t>
            </a:r>
            <a:r>
              <a:rPr lang="en-US" dirty="0" smtClean="0"/>
              <a:t>(</a:t>
            </a:r>
            <a:r>
              <a:rPr lang="bg-BG" dirty="0" smtClean="0"/>
              <a:t>по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row</a:t>
            </a:r>
            <a:r>
              <a:rPr lang="en-US" dirty="0" smtClean="0"/>
              <a:t>)</a:t>
            </a:r>
            <a:r>
              <a:rPr lang="bg-BG" dirty="0" smtClean="0"/>
              <a:t> и вътрешен цикъл</a:t>
            </a:r>
            <a:r>
              <a:rPr lang="en-US" dirty="0" smtClean="0"/>
              <a:t> </a:t>
            </a:r>
            <a:r>
              <a:rPr lang="bg-BG" dirty="0" smtClean="0"/>
              <a:t>(по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col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Вложени цикли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827212" y="4827645"/>
            <a:ext cx="3886200" cy="492187"/>
          </a:xfrm>
          <a:prstGeom prst="rect">
            <a:avLst/>
          </a:prstGeom>
          <a:solidFill>
            <a:schemeClr val="accent1">
              <a:alpha val="25000"/>
            </a:schemeClr>
          </a:solidFill>
          <a:ln w="28575">
            <a:solidFill>
              <a:schemeClr val="tx2">
                <a:lumMod val="75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4214" y="3388412"/>
            <a:ext cx="10820398" cy="293618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row++)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 &lt;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col++)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Console.Write("*");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667610" y="3124200"/>
            <a:ext cx="4113213" cy="1041829"/>
          </a:xfrm>
          <a:prstGeom prst="wedgeRoundRectCallout">
            <a:avLst>
              <a:gd name="adj1" fmla="val -61116"/>
              <a:gd name="adj2" fmla="val 53145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Тялото на външния цикъл се повтаря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пъти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AutoShape 7"/>
          <p:cNvSpPr>
            <a:spLocks noChangeArrowheads="1"/>
          </p:cNvSpPr>
          <p:nvPr/>
        </p:nvSpPr>
        <p:spPr bwMode="auto">
          <a:xfrm>
            <a:off x="6323012" y="4953000"/>
            <a:ext cx="4800600" cy="1041829"/>
          </a:xfrm>
          <a:prstGeom prst="wedgeRoundRectCallout">
            <a:avLst>
              <a:gd name="adj1" fmla="val -60044"/>
              <a:gd name="adj2" fmla="val -39568"/>
              <a:gd name="adj3" fmla="val 16667"/>
            </a:avLst>
          </a:prstGeom>
          <a:solidFill>
            <a:srgbClr val="663606">
              <a:alpha val="94902"/>
            </a:srgbClr>
          </a:solidFill>
          <a:ln w="19050">
            <a:solidFill>
              <a:srgbClr val="F8D49E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Тялото на вътрешния цикъл се повтаря 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</a:t>
            </a:r>
            <a:r>
              <a:rPr lang="bg-BG" sz="2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sz="2800" b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</a:t>
            </a:r>
            <a:r>
              <a:rPr lang="en-US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bg-BG" sz="28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пъти</a:t>
            </a:r>
            <a:endParaRPr lang="bg-BG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409497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  <p:bldP spid="8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Квадрат от звездички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bg-BG" sz="3200" dirty="0" smtClean="0"/>
              <a:t>Да се начертае на конзолата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квадрат от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x N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 звездички</a:t>
            </a:r>
            <a:r>
              <a:rPr lang="bg-BG" sz="3200" dirty="0" smtClean="0"/>
              <a:t>:</a:t>
            </a:r>
            <a:endParaRPr lang="en-US" sz="3200" dirty="0" smtClean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0414" y="2057400"/>
            <a:ext cx="10667998" cy="38579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int.Parse(Console.ReadLine());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(var r 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r &lt;=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r++)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c 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c &lt;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c++)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Console.Write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0412" y="6123296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#2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61147" y="2873992"/>
            <a:ext cx="4717473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20148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Триъгълник от долари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/>
          <a:lstStyle/>
          <a:p>
            <a:r>
              <a:rPr lang="bg-BG" dirty="0" smtClean="0"/>
              <a:t>Да се начертае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триъгълник от долари </a:t>
            </a:r>
            <a:r>
              <a:rPr lang="bg-BG" dirty="0" smtClean="0"/>
              <a:t>с размер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60414" y="3326799"/>
            <a:ext cx="2133598" cy="25879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108000" rIns="180000" bIns="108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 $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 $ $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 $ $ $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 $ $ $ $</a:t>
            </a:r>
            <a:endParaRPr lang="bg-BG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0414" y="2057400"/>
            <a:ext cx="2133598" cy="69208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108000" rIns="180000" bIns="108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5</a:t>
            </a:r>
            <a:endParaRPr lang="bg-BG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1674812" y="2832558"/>
            <a:ext cx="304801" cy="416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464012" y="2057400"/>
            <a:ext cx="7888200" cy="38579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int.Parse(Console.ReadLine());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(var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row++)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Console.Write("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col &lt;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row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col++)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Console.Write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$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412" y="6123296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06207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096529"/>
            <a:ext cx="11804822" cy="5570355"/>
          </a:xfrm>
        </p:spPr>
        <p:txBody>
          <a:bodyPr/>
          <a:lstStyle/>
          <a:p>
            <a:r>
              <a:rPr lang="bg-BG" dirty="0" smtClean="0"/>
              <a:t>Да се начертае на конзолата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квадратна рамка </a:t>
            </a:r>
            <a:r>
              <a:rPr lang="bg-BG" dirty="0" smtClean="0"/>
              <a:t>с размер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Квадратна рамка</a:t>
            </a:r>
            <a:endParaRPr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4212" y="3365285"/>
            <a:ext cx="2133597" cy="25879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108000" rIns="180000" bIns="108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 - - - +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 - - - |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 - - - |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 - - - |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 - - - +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2" y="1953904"/>
            <a:ext cx="2133598" cy="69208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108000" rIns="180000" bIns="108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5</a:t>
            </a:r>
            <a:endParaRPr lang="bg-BG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1598609" y="2797206"/>
            <a:ext cx="304801" cy="416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75011" y="1953904"/>
            <a:ext cx="8215198" cy="401956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</a:t>
            </a:r>
            <a:r>
              <a:rPr lang="en-US" sz="28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the top row: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 - - - +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("+");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(int i = 0; i &lt; n-2; i++)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Console.Write(" -");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Console.WriteLine(" +");</a:t>
            </a:r>
          </a:p>
          <a:p>
            <a:pPr eaLnBrk="0" hangingPunct="0">
              <a:lnSpc>
                <a:spcPct val="10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 row = 0; row &lt; n - 2; row++)</a:t>
            </a:r>
          </a:p>
          <a:p>
            <a:pPr eaLnBrk="0" hangingPunct="0">
              <a:lnSpc>
                <a:spcPct val="10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// TODO: </a:t>
            </a:r>
            <a:r>
              <a:rPr lang="en-US" sz="28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the mid rows: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| - - - |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05000"/>
              </a:lnSpc>
              <a:spcBef>
                <a:spcPts val="12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</a:t>
            </a:r>
            <a:r>
              <a:rPr lang="en-US" sz="28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the bottom row</a:t>
            </a:r>
            <a:r>
              <a:rPr lang="en-US" sz="28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: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+ 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 - - 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412" y="6150592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688957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Ромбче от звездички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/>
          <a:lstStyle/>
          <a:p>
            <a:r>
              <a:rPr lang="bg-BG" dirty="0" smtClean="0"/>
              <a:t>Да се начертае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ромбче от звездички </a:t>
            </a:r>
            <a:r>
              <a:rPr lang="bg-BG" dirty="0" smtClean="0"/>
              <a:t>с размер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n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36612" y="3352800"/>
            <a:ext cx="1450975" cy="2494478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72000" rIns="180000" bIns="72000">
            <a:no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*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 *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* *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*</a:t>
            </a:r>
          </a:p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*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12811" y="1997172"/>
            <a:ext cx="1450975" cy="69208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80000" tIns="108000" rIns="180000" bIns="108000">
            <a:spAutoFit/>
          </a:bodyPr>
          <a:lstStyle/>
          <a:p>
            <a:pPr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3</a:t>
            </a:r>
            <a:endParaRPr lang="bg-BG" sz="2800" b="1" noProof="1" smtClean="0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1484311" y="2827492"/>
            <a:ext cx="304801" cy="416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083010" y="1997172"/>
            <a:ext cx="8193002" cy="3893374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</a:t>
            </a: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row = 1; row &lt;= n; row++)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for (var col = 1; col &lt;= n-row; col++)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Console.Write(" ");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Console.Write("*");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for (var col = 1; col &lt; row; col++)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  Console.Write(" *");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Console.WriteLine();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lnSpc>
                <a:spcPct val="95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the down side of the rhomb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412" y="6140439"/>
            <a:ext cx="1066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dirty="0" smtClean="0"/>
              <a:t>Тестване на решението: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judge.softuni.bg/Contests/Practice/Index/15</a:t>
            </a:r>
            <a:r>
              <a:rPr lang="bg-BG" dirty="0" smtClean="0">
                <a:hlinkClick r:id="rId2"/>
              </a:rPr>
              <a:t>5</a:t>
            </a:r>
            <a:r>
              <a:rPr lang="en-US" dirty="0" smtClean="0">
                <a:hlinkClick r:id="rId2"/>
              </a:rPr>
              <a:t>#5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231342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Напишете програма, която въвежда число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dirty="0" smtClean="0"/>
              <a:t> (1 ≤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 smtClean="0"/>
              <a:t> ≤ 100) </a:t>
            </a:r>
            <a:r>
              <a:rPr lang="bg-BG" dirty="0" smtClean="0"/>
              <a:t>и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печата коледна елха </a:t>
            </a:r>
            <a:r>
              <a:rPr lang="bg-BG" dirty="0" smtClean="0"/>
              <a:t>с размер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dirty="0" smtClean="0"/>
              <a:t> като в примерите по-долу: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Коледна елха</a:t>
            </a:r>
            <a:endParaRPr lang="en-US" dirty="0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2335991" y="2667000"/>
            <a:ext cx="1447800" cy="3096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2</a:t>
            </a:r>
            <a:endParaRPr lang="bg-BG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 |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 | **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240990" y="2667000"/>
            <a:ext cx="1752600" cy="3096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3</a:t>
            </a:r>
            <a:endParaRPr lang="bg-BG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* |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** | 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 | ***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9061531" y="2668487"/>
            <a:ext cx="2443081" cy="30945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5</a:t>
            </a:r>
            <a:endParaRPr lang="bg-BG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* |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** | 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*** | ***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**** | ****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 | *****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84212" y="2667000"/>
            <a:ext cx="1117600" cy="3096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1</a:t>
            </a:r>
            <a:endParaRPr lang="bg-BG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| *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6461791" y="2667000"/>
            <a:ext cx="2088000" cy="309451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4</a:t>
            </a:r>
            <a:endParaRPr lang="bg-BG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|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 | 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 | ***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 </a:t>
            </a: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</a:t>
            </a:r>
            <a:endParaRPr lang="en-US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3724" y="6049028"/>
            <a:ext cx="109839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/>
              <a:t>Пращане</a:t>
            </a:r>
            <a:r>
              <a:rPr lang="en-US" sz="2600" dirty="0" smtClean="0"/>
              <a:t> </a:t>
            </a:r>
            <a:r>
              <a:rPr lang="bg-BG" sz="2600" dirty="0" smtClean="0"/>
              <a:t>на решения: </a:t>
            </a:r>
            <a:r>
              <a:rPr lang="en-US" sz="2600" dirty="0">
                <a:hlinkClick r:id="rId3"/>
              </a:rPr>
              <a:t>https://</a:t>
            </a:r>
            <a:r>
              <a:rPr lang="en-US" sz="2600" dirty="0" smtClean="0">
                <a:hlinkClick r:id="rId3"/>
              </a:rPr>
              <a:t>judge.softuni.bg/Contests/Practice/Index/155#6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xmlns="" val="2867826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Коледна </a:t>
            </a:r>
            <a:r>
              <a:rPr lang="bg-BG" dirty="0" smtClean="0"/>
              <a:t>елха – решение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0414" y="1231310"/>
            <a:ext cx="10667998" cy="5118362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/>
          <a:p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int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int.Parse(Console.ReadLine());</a:t>
            </a:r>
          </a:p>
          <a:p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 i = 0; i &lt;= n; i++)</a:t>
            </a:r>
          </a:p>
          <a:p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  <a:endParaRPr lang="en-US" sz="30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>
              <a:lnSpc>
                <a:spcPct val="80000"/>
              </a:lnSpc>
            </a:pP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var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stars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new string('*', i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  <a:endParaRPr lang="en-US" sz="30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var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spaces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= new string(' ',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- i);</a:t>
            </a:r>
            <a:endParaRPr lang="en-US" sz="30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Console.Write(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spaces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stars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Console.Write("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  <a:endParaRPr lang="en-US" sz="30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stars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spaces</a:t>
            </a:r>
            <a:r>
              <a:rPr lang="en-US" sz="30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</a:p>
          <a:p>
            <a:pPr>
              <a:lnSpc>
                <a:spcPct val="80000"/>
              </a:lnSpc>
            </a:pPr>
            <a:r>
              <a:rPr lang="en-US" sz="30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30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761412" y="3763196"/>
            <a:ext cx="2443081" cy="2380222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08000" tIns="72000" rIns="108000" bIns="72000">
            <a:no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</a:t>
            </a: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* | 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** | 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*** | ***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**** | ****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 | *****</a:t>
            </a:r>
          </a:p>
        </p:txBody>
      </p:sp>
    </p:spTree>
    <p:extLst>
      <p:ext uri="{BB962C8B-B14F-4D97-AF65-F5344CB8AC3E}">
        <p14:creationId xmlns:p14="http://schemas.microsoft.com/office/powerpoint/2010/main" xmlns="" val="25414232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751696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прости фигури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651472"/>
            <a:ext cx="10363200" cy="719034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/>
              <a:t>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1979612" y="587881"/>
            <a:ext cx="4328441" cy="3831719"/>
            <a:chOff x="7340506" y="2376831"/>
            <a:chExt cx="4328441" cy="383171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79388" y="2376831"/>
              <a:ext cx="1989559" cy="1989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33495" y="1552276"/>
            <a:ext cx="3023317" cy="2692822"/>
          </a:xfrm>
          <a:prstGeom prst="roundRect">
            <a:avLst>
              <a:gd name="adj" fmla="val 4420"/>
            </a:avLst>
          </a:prstGeom>
          <a:ln>
            <a:solidFill>
              <a:schemeClr val="tx1">
                <a:lumMod val="50000"/>
              </a:schemeClr>
            </a:solidFill>
          </a:ln>
          <a:scene3d>
            <a:camera prst="perspectiveHeroicExtremeLeftFacing" fov="3600000">
              <a:rot lat="53248" lon="784136" rev="159792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xmlns="" val="2323404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751696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по-сложни фигури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651472"/>
            <a:ext cx="10363200" cy="719034"/>
          </a:xfrm>
        </p:spPr>
        <p:txBody>
          <a:bodyPr/>
          <a:lstStyle/>
          <a:p>
            <a:r>
              <a:rPr lang="bg-BG" dirty="0" smtClean="0"/>
              <a:t>Работа с вложени цикли и проверки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6612" y="664081"/>
            <a:ext cx="4328441" cy="3831719"/>
            <a:chOff x="7340506" y="2376831"/>
            <a:chExt cx="4328441" cy="383171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79388" y="2376831"/>
              <a:ext cx="1989559" cy="1989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ounded Rectangle 10"/>
          <p:cNvSpPr>
            <a:spLocks noChangeArrowheads="1"/>
          </p:cNvSpPr>
          <p:nvPr/>
        </p:nvSpPr>
        <p:spPr bwMode="auto">
          <a:xfrm>
            <a:off x="5484812" y="1676400"/>
            <a:ext cx="5808604" cy="2498143"/>
          </a:xfrm>
          <a:prstGeom prst="roundRect">
            <a:avLst>
              <a:gd name="adj" fmla="val 2463"/>
            </a:avLst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**********     **********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    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*|||||*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    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**********     **********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27481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bg-BG" sz="3200" dirty="0" smtClean="0"/>
              <a:t>Напишете програма, която въвежда цяло число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sz="3200" dirty="0" smtClean="0"/>
              <a:t> (3 ≤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3200" dirty="0" smtClean="0"/>
              <a:t> ≤ </a:t>
            </a:r>
            <a:r>
              <a:rPr lang="bg-BG" sz="3200" dirty="0" smtClean="0"/>
              <a:t>100</a:t>
            </a:r>
            <a:r>
              <a:rPr lang="en-US" sz="3200" dirty="0" smtClean="0"/>
              <a:t>) </a:t>
            </a:r>
            <a:r>
              <a:rPr lang="bg-BG" sz="3200" dirty="0" smtClean="0"/>
              <a:t>и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печата слънчеви очила </a:t>
            </a:r>
            <a:r>
              <a:rPr lang="bg-BG" sz="3200" dirty="0" smtClean="0"/>
              <a:t>с размер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5*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 </a:t>
            </a:r>
            <a:r>
              <a:rPr lang="en-US" sz="3200" dirty="0" smtClean="0"/>
              <a:t>x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sz="3200" dirty="0" smtClean="0"/>
              <a:t> като в примерите: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Слънчеви очила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293812" y="3359507"/>
            <a:ext cx="3581400" cy="16945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******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5772208" y="3359504"/>
            <a:ext cx="4741804" cy="2126896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    ********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*||||*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   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    ********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724" y="5943600"/>
            <a:ext cx="109839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/>
              <a:t>Пращане</a:t>
            </a:r>
            <a:r>
              <a:rPr lang="en-US" sz="2600" dirty="0" smtClean="0"/>
              <a:t> </a:t>
            </a:r>
            <a:r>
              <a:rPr lang="bg-BG" sz="2600" dirty="0" smtClean="0"/>
              <a:t>на решения: </a:t>
            </a:r>
            <a:r>
              <a:rPr lang="en-US" sz="2600" dirty="0">
                <a:hlinkClick r:id="rId3"/>
              </a:rPr>
              <a:t>https://</a:t>
            </a:r>
            <a:r>
              <a:rPr lang="en-US" sz="2600" dirty="0" smtClean="0">
                <a:hlinkClick r:id="rId3"/>
              </a:rPr>
              <a:t>judge.softuni.bg/Contests/Practice/Index/155#7</a:t>
            </a:r>
            <a:endParaRPr lang="en-US" sz="2600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293812" y="2661314"/>
            <a:ext cx="35814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bg-BG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5772208" y="2661311"/>
            <a:ext cx="4741804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bg-BG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4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09759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Слънчеви </a:t>
            </a:r>
            <a:r>
              <a:rPr lang="bg-BG" dirty="0" smtClean="0"/>
              <a:t>очила</a:t>
            </a:r>
            <a:r>
              <a:rPr lang="en-US" dirty="0" smtClean="0"/>
              <a:t> </a:t>
            </a:r>
            <a:r>
              <a:rPr lang="bg-BG" dirty="0" smtClean="0"/>
              <a:t>– решение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0414" y="1095208"/>
            <a:ext cx="10667998" cy="5327200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/>
          <a:p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Print the top part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 * n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Console.WriteLine(new 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 * n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</a:p>
          <a:p>
            <a:pPr>
              <a:spcBef>
                <a:spcPts val="1200"/>
              </a:spcBef>
            </a:pP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 i = 0; i &lt; </a:t>
            </a:r>
            <a:r>
              <a:rPr lang="nn-NO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- 2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i</a:t>
            </a: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++)</a:t>
            </a:r>
            <a:b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</a:b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//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TODO: </a:t>
            </a:r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the middle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part</a:t>
            </a:r>
            <a:endParaRPr lang="nn-NO" sz="2600" b="1" noProof="1" smtClean="0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 smtClean="0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>
              <a:spcBef>
                <a:spcPts val="1200"/>
              </a:spcBef>
            </a:pP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Print the bottom part</a:t>
            </a: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 * n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Console.WriteLine(new string('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</a:t>
            </a:r>
            <a:r>
              <a:rPr lang="en-US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 * n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));</a:t>
            </a:r>
            <a:endParaRPr lang="en-US" sz="26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42212" y="3048000"/>
            <a:ext cx="3581400" cy="16945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******</a:t>
            </a:r>
          </a:p>
        </p:txBody>
      </p:sp>
    </p:spTree>
    <p:extLst>
      <p:ext uri="{BB962C8B-B14F-4D97-AF65-F5344CB8AC3E}">
        <p14:creationId xmlns:p14="http://schemas.microsoft.com/office/powerpoint/2010/main" xmlns="" val="1318140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Слънчеви </a:t>
            </a:r>
            <a:r>
              <a:rPr lang="bg-BG" dirty="0" smtClean="0"/>
              <a:t>очила</a:t>
            </a:r>
            <a:r>
              <a:rPr lang="en-US" dirty="0" smtClean="0"/>
              <a:t> </a:t>
            </a:r>
            <a:r>
              <a:rPr lang="bg-BG" dirty="0" smtClean="0"/>
              <a:t>– решение</a:t>
            </a:r>
            <a:r>
              <a:rPr lang="en-US" dirty="0" smtClean="0"/>
              <a:t> (2)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0414" y="1243621"/>
            <a:ext cx="10667998" cy="5080979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/>
          <a:p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 </a:t>
            </a:r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the middle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part</a:t>
            </a: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(int i = 0; i &lt; n - 2; i++)</a:t>
            </a: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</a:t>
            </a:r>
            <a:r>
              <a:rPr lang="nn-NO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</a:t>
            </a:r>
            <a:r>
              <a:rPr lang="nn-NO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nn-NO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>
              <a:spcBef>
                <a:spcPts val="1200"/>
              </a:spcBef>
            </a:pP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 == (n-1) / 2 - 1)</a:t>
            </a: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Console.Write(new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string('</a:t>
            </a:r>
            <a:r>
              <a:rPr lang="nn-NO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', n));</a:t>
            </a: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else</a:t>
            </a:r>
            <a:endParaRPr lang="nn-NO" sz="26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 ', n));</a:t>
            </a:r>
          </a:p>
          <a:p>
            <a:pPr>
              <a:spcBef>
                <a:spcPts val="1200"/>
              </a:spcBef>
            </a:pP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nn-NO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TODO: </a:t>
            </a:r>
            <a:r>
              <a:rPr lang="nn-NO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print</a:t>
            </a:r>
            <a:r>
              <a:rPr lang="nn-NO" sz="26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nn-NO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</a:t>
            </a:r>
            <a:r>
              <a:rPr lang="nn-NO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>
              <a:spcBef>
                <a:spcPts val="1200"/>
              </a:spcBef>
            </a:pPr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Console.WriteLine();</a:t>
            </a:r>
            <a:endParaRPr lang="nn-NO" sz="2600" b="1" noProof="1" smtClean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nn-NO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579775" y="1508208"/>
            <a:ext cx="3581400" cy="1694501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*|||*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   ******</a:t>
            </a:r>
          </a:p>
        </p:txBody>
      </p:sp>
    </p:spTree>
    <p:extLst>
      <p:ext uri="{BB962C8B-B14F-4D97-AF65-F5344CB8AC3E}">
        <p14:creationId xmlns:p14="http://schemas.microsoft.com/office/powerpoint/2010/main" xmlns="" val="32488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8494799" cy="5570355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Напишете програма, която въвежда число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sz="3200" dirty="0" smtClean="0"/>
              <a:t> (</a:t>
            </a:r>
            <a:r>
              <a:rPr lang="bg-BG" sz="3200" dirty="0" smtClean="0"/>
              <a:t>2</a:t>
            </a:r>
            <a:r>
              <a:rPr lang="en-US" sz="3200" dirty="0" smtClean="0"/>
              <a:t> ≤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3200" dirty="0" smtClean="0"/>
              <a:t> ≤ </a:t>
            </a:r>
            <a:r>
              <a:rPr lang="bg-BG" sz="3200" dirty="0" smtClean="0"/>
              <a:t>100</a:t>
            </a:r>
            <a:r>
              <a:rPr lang="en-US" sz="3200" dirty="0" smtClean="0"/>
              <a:t>) </a:t>
            </a:r>
            <a:r>
              <a:rPr lang="bg-BG" sz="3200" dirty="0" smtClean="0"/>
              <a:t>и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печата къщичка </a:t>
            </a:r>
            <a:r>
              <a:rPr lang="bg-BG" sz="3200" dirty="0" smtClean="0"/>
              <a:t>с размер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sz="3200" dirty="0"/>
              <a:t> x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sz="3200" dirty="0" smtClean="0"/>
              <a:t>: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Къщичка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656012" y="3229250"/>
            <a:ext cx="1524000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-**-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|**|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8761412" y="1993590"/>
            <a:ext cx="2608204" cy="37338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---**---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--****--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-******-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|******|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724" y="6031045"/>
            <a:ext cx="109839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/>
              <a:t>Пращане</a:t>
            </a:r>
            <a:r>
              <a:rPr lang="en-US" sz="2600" dirty="0" smtClean="0"/>
              <a:t> </a:t>
            </a:r>
            <a:r>
              <a:rPr lang="bg-BG" sz="2600" dirty="0" smtClean="0"/>
              <a:t>на решения: </a:t>
            </a:r>
            <a:r>
              <a:rPr lang="en-US" sz="2600" dirty="0">
                <a:hlinkClick r:id="rId3"/>
              </a:rPr>
              <a:t>https://</a:t>
            </a:r>
            <a:r>
              <a:rPr lang="en-US" sz="2600" dirty="0" smtClean="0">
                <a:hlinkClick r:id="rId3"/>
              </a:rPr>
              <a:t>judge.softuni.bg/Contests/Practice/Index/155#8</a:t>
            </a:r>
            <a:endParaRPr lang="en-US" sz="2600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656012" y="2531057"/>
            <a:ext cx="15240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4</a:t>
            </a: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8761412" y="1295400"/>
            <a:ext cx="2608204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8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993706" y="3229250"/>
            <a:ext cx="1905000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--*--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-***-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|***|</a:t>
            </a: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993706" y="2531057"/>
            <a:ext cx="19050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bg-BG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370012" y="3229250"/>
            <a:ext cx="1524000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-*-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|*|</a:t>
            </a: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370012" y="2531057"/>
            <a:ext cx="15240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80617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Къщичка</a:t>
            </a:r>
            <a:r>
              <a:rPr lang="en-US" dirty="0" smtClean="0"/>
              <a:t> </a:t>
            </a:r>
            <a:r>
              <a:rPr lang="bg-BG" dirty="0" smtClean="0"/>
              <a:t>– решение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22414" y="1194036"/>
            <a:ext cx="10943998" cy="5173312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/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stars = 1;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(n % 2 == 0) stars++;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(int i = 0; i &lt; (n+1) / 2; i++)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</a:t>
            </a:r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Draw the roof</a:t>
            </a: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var padding =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(n - stars) / 2)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Console.Write(new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('-',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padding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);</a:t>
            </a:r>
            <a:endParaRPr lang="en-US" sz="26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Console.Write(new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string('*', stars));</a:t>
            </a: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Console.WriteLine(new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string('-', 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padding);</a:t>
            </a:r>
            <a:endParaRPr lang="en-US" sz="26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stars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stars + 2;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pPr>
              <a:spcBef>
                <a:spcPts val="1200"/>
              </a:spcBef>
            </a:pP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</a:t>
            </a:r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(int i = 0; i &lt; n / 2; i++)</a:t>
            </a:r>
          </a:p>
          <a:p>
            <a:r>
              <a:rPr lang="en-US" sz="2600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</a:t>
            </a:r>
            <a:r>
              <a:rPr lang="en-US" sz="2600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Draw the house </a:t>
            </a:r>
            <a:r>
              <a:rPr lang="en-US" sz="2600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body: </a:t>
            </a:r>
            <a:r>
              <a:rPr lang="en-US" sz="26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|*****| </a:t>
            </a:r>
            <a:r>
              <a:rPr lang="en-US" sz="2600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endParaRPr lang="en-US" sz="2600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371012" y="2854656"/>
            <a:ext cx="1905000" cy="32524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---*---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--***--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-*****-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|*****|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|*****|</a:t>
            </a:r>
          </a:p>
        </p:txBody>
      </p:sp>
    </p:spTree>
    <p:extLst>
      <p:ext uri="{BB962C8B-B14F-4D97-AF65-F5344CB8AC3E}">
        <p14:creationId xmlns:p14="http://schemas.microsoft.com/office/powerpoint/2010/main" xmlns="" val="1296678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8986807" cy="5570355"/>
          </a:xfrm>
        </p:spPr>
        <p:txBody>
          <a:bodyPr>
            <a:normAutofit/>
          </a:bodyPr>
          <a:lstStyle/>
          <a:p>
            <a:r>
              <a:rPr lang="bg-BG" sz="3200" dirty="0" smtClean="0"/>
              <a:t>Напишете програма, която въвежда цяло число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en-US" sz="3200" dirty="0" smtClean="0"/>
              <a:t> (1 ≤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3200" dirty="0" smtClean="0"/>
              <a:t> ≤ </a:t>
            </a:r>
            <a:r>
              <a:rPr lang="bg-BG" sz="3200" dirty="0" smtClean="0"/>
              <a:t>100</a:t>
            </a:r>
            <a:r>
              <a:rPr lang="en-US" sz="3200" dirty="0" smtClean="0"/>
              <a:t>) </a:t>
            </a:r>
            <a:r>
              <a:rPr lang="bg-BG" sz="3200" dirty="0" smtClean="0"/>
              <a:t>и </a:t>
            </a:r>
            <a:r>
              <a:rPr lang="bg-BG" sz="3200" dirty="0" smtClean="0">
                <a:solidFill>
                  <a:schemeClr val="tx2">
                    <a:lumMod val="75000"/>
                  </a:schemeClr>
                </a:solidFill>
              </a:rPr>
              <a:t>печата диамант </a:t>
            </a:r>
            <a:r>
              <a:rPr lang="bg-BG" sz="3200" dirty="0" smtClean="0"/>
              <a:t>с размер </a:t>
            </a:r>
            <a:r>
              <a:rPr lang="en-US" sz="3200" dirty="0" smtClean="0">
                <a:solidFill>
                  <a:schemeClr val="tx2">
                    <a:lumMod val="75000"/>
                  </a:schemeClr>
                </a:solidFill>
              </a:rPr>
              <a:t>n</a:t>
            </a:r>
            <a:r>
              <a:rPr lang="bg-BG" sz="3200" dirty="0" smtClean="0"/>
              <a:t>:</a:t>
            </a:r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Диамант</a:t>
            </a:r>
            <a:endParaRPr lang="en-US" dirty="0"/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2360612" y="3216861"/>
            <a:ext cx="1295400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9599612" y="2438400"/>
            <a:ext cx="1828800" cy="325247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724" y="5967140"/>
            <a:ext cx="109839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sz="2600" dirty="0" smtClean="0"/>
              <a:t>Пращане</a:t>
            </a:r>
            <a:r>
              <a:rPr lang="en-US" sz="2600" dirty="0" smtClean="0"/>
              <a:t> </a:t>
            </a:r>
            <a:r>
              <a:rPr lang="bg-BG" sz="2600" dirty="0" smtClean="0"/>
              <a:t>на решения: </a:t>
            </a:r>
            <a:r>
              <a:rPr lang="en-US" sz="2600" dirty="0">
                <a:hlinkClick r:id="rId3"/>
              </a:rPr>
              <a:t>https://</a:t>
            </a:r>
            <a:r>
              <a:rPr lang="en-US" sz="2600" dirty="0" smtClean="0">
                <a:hlinkClick r:id="rId3"/>
              </a:rPr>
              <a:t>judge.softuni.bg/Contests/Practice/Index/155#9</a:t>
            </a:r>
            <a:endParaRPr lang="en-US" sz="2600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2360612" y="2518668"/>
            <a:ext cx="12954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3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9599612" y="1764329"/>
            <a:ext cx="18288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7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713412" y="3216861"/>
            <a:ext cx="1541404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713412" y="2518668"/>
            <a:ext cx="1541404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684212" y="3216861"/>
            <a:ext cx="1295400" cy="6845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84212" y="2518668"/>
            <a:ext cx="12954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689063" y="5020704"/>
            <a:ext cx="1295400" cy="68454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689063" y="4322511"/>
            <a:ext cx="12954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 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4037012" y="3229740"/>
            <a:ext cx="1295400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</a:t>
            </a:r>
            <a:r>
              <a:rPr lang="bg-BG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auto">
          <a:xfrm>
            <a:off x="4037012" y="2531547"/>
            <a:ext cx="1295400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= 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4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7635816" y="3216861"/>
            <a:ext cx="1541404" cy="249813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7635816" y="2518668"/>
            <a:ext cx="1541404" cy="698189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n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onsolas" pitchFamily="49" charset="0"/>
              </a:rPr>
              <a:t> = 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xmlns="" val="3664045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Диамант</a:t>
            </a:r>
            <a:r>
              <a:rPr lang="en-US" dirty="0" smtClean="0"/>
              <a:t> </a:t>
            </a:r>
            <a:r>
              <a:rPr lang="bg-BG" dirty="0" smtClean="0"/>
              <a:t>– решение</a:t>
            </a:r>
            <a:endParaRPr lang="en-US" dirty="0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60414" y="1143000"/>
            <a:ext cx="10667998" cy="5388756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/>
          <a:p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leftRight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(n - 1) / 2;</a:t>
            </a:r>
          </a:p>
          <a:p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 (int i = 1; i &lt;= (n-1) / 2; i++)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 </a:t>
            </a:r>
            <a:r>
              <a:rPr lang="en-US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Draw the top part</a:t>
            </a:r>
            <a:endParaRPr lang="en-US" b="1" i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string('-',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leftRight));</a:t>
            </a:r>
            <a:endParaRPr lang="en-US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Console.Write("*");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var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mid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n - 2 *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leftRight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- 2;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if (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mid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&gt;= 0)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Console.Write(new string('-',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mid));</a:t>
            </a:r>
            <a:endParaRPr lang="en-US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Console.Write("*");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Console.WriteLine(new string('-', </a:t>
            </a:r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leftRight));</a:t>
            </a:r>
            <a:endParaRPr lang="en-US" b="1" noProof="1">
              <a:solidFill>
                <a:srgbClr val="FBEEE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leftRight-</a:t>
            </a:r>
            <a:r>
              <a:rPr lang="en-US" b="1" noProof="1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-;</a:t>
            </a:r>
          </a:p>
          <a:p>
            <a:r>
              <a:rPr lang="en-US" b="1" noProof="1" smtClean="0">
                <a:solidFill>
                  <a:srgbClr val="FBEEE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  <a:r>
              <a:rPr lang="en-US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 </a:t>
            </a:r>
            <a:r>
              <a:rPr lang="en-US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TODO:</a:t>
            </a:r>
            <a:r>
              <a:rPr lang="en-US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b="1" i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Draw the </a:t>
            </a:r>
            <a:r>
              <a:rPr lang="en-US" b="1" i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bottom part</a:t>
            </a:r>
            <a:endParaRPr lang="en-US" b="1" i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9192854" y="3175716"/>
            <a:ext cx="1949700" cy="1929783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192854" y="1447800"/>
            <a:ext cx="1949700" cy="1437925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---</a:t>
            </a:r>
            <a:r>
              <a:rPr lang="en-US" sz="28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28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-</a:t>
            </a:r>
            <a:endParaRPr lang="en-US" sz="28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4024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751696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по-сложни фигури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651472"/>
            <a:ext cx="10363200" cy="719034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/>
              <a:t>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836612" y="664081"/>
            <a:ext cx="4328441" cy="3831719"/>
            <a:chOff x="7340506" y="2376831"/>
            <a:chExt cx="4328441" cy="3831719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40506" y="3160286"/>
              <a:ext cx="4115157" cy="3048264"/>
            </a:xfrm>
            <a:prstGeom prst="rect">
              <a:avLst/>
            </a:prstGeom>
          </p:spPr>
        </p:pic>
        <p:pic>
          <p:nvPicPr>
            <p:cNvPr id="10" name="Picture 2" descr="https://cdn4.iconfinder.com/data/icons/STROKE/text/png/400/color_fill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 rot="493243">
              <a:off x="9679388" y="2376831"/>
              <a:ext cx="1989559" cy="1989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ounded Rectangle 10"/>
          <p:cNvSpPr>
            <a:spLocks noChangeArrowheads="1"/>
          </p:cNvSpPr>
          <p:nvPr/>
        </p:nvSpPr>
        <p:spPr bwMode="auto">
          <a:xfrm>
            <a:off x="5484812" y="1676400"/>
            <a:ext cx="5808604" cy="2498143"/>
          </a:xfrm>
          <a:prstGeom prst="roundRect">
            <a:avLst>
              <a:gd name="adj" fmla="val 2463"/>
            </a:avLst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anchor="ctr" anchorCtr="0">
            <a:noAutofit/>
          </a:bodyPr>
          <a:lstStyle/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**********     **********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    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*|||||*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     *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////////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</a:p>
          <a:p>
            <a:pPr algn="ctr"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**********     **********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971767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13" y="4885022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обекти в уеб среда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733282"/>
            <a:ext cx="10363200" cy="719034"/>
          </a:xfrm>
        </p:spPr>
        <p:txBody>
          <a:bodyPr/>
          <a:lstStyle/>
          <a:p>
            <a:r>
              <a:rPr lang="en-US" dirty="0" smtClean="0"/>
              <a:t>ASP.NET MVC </a:t>
            </a:r>
            <a:r>
              <a:rPr lang="bg-BG" dirty="0" smtClean="0"/>
              <a:t>приложение за чертане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3012" y="785122"/>
            <a:ext cx="7162800" cy="37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465895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Да се разработи </a:t>
            </a:r>
            <a:r>
              <a:rPr lang="en-US" dirty="0" smtClean="0"/>
              <a:t>ASP.NET MVC </a:t>
            </a:r>
            <a:r>
              <a:rPr lang="bg-BG" dirty="0" smtClean="0"/>
              <a:t>уеб приложение за </a:t>
            </a:r>
            <a:r>
              <a:rPr lang="bg-BG" dirty="0" smtClean="0">
                <a:solidFill>
                  <a:schemeClr val="tx2">
                    <a:lumMod val="75000"/>
                  </a:schemeClr>
                </a:solidFill>
              </a:rPr>
              <a:t>визуализация на рейтинг</a:t>
            </a:r>
            <a:r>
              <a:rPr lang="bg-BG" dirty="0" smtClean="0"/>
              <a:t> (число от 0 до 100)</a:t>
            </a:r>
          </a:p>
          <a:p>
            <a:pPr lvl="1"/>
            <a:r>
              <a:rPr lang="bg-BG" dirty="0" smtClean="0"/>
              <a:t>Чертаят се от 1 до </a:t>
            </a:r>
            <a:r>
              <a:rPr lang="en-US" dirty="0" smtClean="0"/>
              <a:t>10</a:t>
            </a:r>
            <a:r>
              <a:rPr lang="bg-BG" dirty="0" smtClean="0"/>
              <a:t> звездички (с половинки)</a:t>
            </a:r>
            <a:endParaRPr lang="en-US" dirty="0" smtClean="0"/>
          </a:p>
          <a:p>
            <a:pPr lvl="1"/>
            <a:r>
              <a:rPr lang="bg-BG" dirty="0" smtClean="0"/>
              <a:t>Звездичките да се генерират 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dirty="0" smtClean="0"/>
              <a:t>-</a:t>
            </a:r>
            <a:r>
              <a:rPr lang="bg-BG" dirty="0" smtClean="0"/>
              <a:t>цикъл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Визуализация на рейтинг в уеб</a:t>
            </a:r>
            <a:r>
              <a:rPr lang="en-US" dirty="0" smtClean="0"/>
              <a:t> </a:t>
            </a:r>
            <a:r>
              <a:rPr lang="bg-BG" dirty="0" smtClean="0"/>
              <a:t>среда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9236" y="4000384"/>
            <a:ext cx="7347176" cy="2248016"/>
          </a:xfrm>
          <a:prstGeom prst="roundRect">
            <a:avLst>
              <a:gd name="adj" fmla="val 2683"/>
            </a:avLst>
          </a:prstGeom>
        </p:spPr>
      </p:pic>
    </p:spTree>
    <p:extLst>
      <p:ext uri="{BB962C8B-B14F-4D97-AF65-F5344CB8AC3E}">
        <p14:creationId xmlns:p14="http://schemas.microsoft.com/office/powerpoint/2010/main" xmlns="" val="3181966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Създаване на уеб приложение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39344" y="1261154"/>
            <a:ext cx="9110138" cy="513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83880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Избор на тип уеб приложение: </a:t>
            </a:r>
            <a:r>
              <a:rPr lang="en-US" dirty="0" smtClean="0"/>
              <a:t>MVC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1612" y="1169366"/>
            <a:ext cx="6705600" cy="522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34520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Създаване на изглед (</a:t>
            </a:r>
            <a:r>
              <a:rPr lang="en-US" dirty="0" smtClean="0"/>
              <a:t>view)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7214" y="1161276"/>
            <a:ext cx="8534398" cy="526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58563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Създаване на </a:t>
            </a:r>
            <a:r>
              <a:rPr lang="bg-BG" dirty="0" smtClean="0"/>
              <a:t>действие (</a:t>
            </a:r>
            <a:r>
              <a:rPr lang="en-US" dirty="0" smtClean="0"/>
              <a:t>action)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51012" y="1104532"/>
            <a:ext cx="8686800" cy="535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50113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3465599" cy="5570355"/>
          </a:xfrm>
        </p:spPr>
        <p:txBody>
          <a:bodyPr>
            <a:normAutofit/>
          </a:bodyPr>
          <a:lstStyle/>
          <a:p>
            <a:r>
              <a:rPr lang="bg-BG" sz="3000" dirty="0" smtClean="0"/>
              <a:t>Направете </a:t>
            </a:r>
            <a:r>
              <a:rPr lang="en-US" sz="3000" dirty="0" smtClean="0"/>
              <a:t>folder "</a:t>
            </a:r>
            <a:r>
              <a:rPr lang="en-US" sz="30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images</a:t>
            </a:r>
            <a:r>
              <a:rPr lang="en-US" sz="3000" dirty="0" smtClean="0"/>
              <a:t>"</a:t>
            </a:r>
            <a:r>
              <a:rPr lang="bg-BG" sz="3000" dirty="0" smtClean="0"/>
              <a:t> в проекта</a:t>
            </a:r>
            <a:endParaRPr lang="en-US" sz="3000" dirty="0" smtClean="0"/>
          </a:p>
          <a:p>
            <a:r>
              <a:rPr lang="en-US" sz="3000" dirty="0" smtClean="0"/>
              <a:t>K</a:t>
            </a:r>
            <a:r>
              <a:rPr lang="bg-BG" sz="3000" dirty="0" smtClean="0"/>
              <a:t>опирайте картинките със звездичките в него с </a:t>
            </a:r>
            <a:r>
              <a:rPr lang="en-US" sz="3000" dirty="0" smtClean="0"/>
              <a:t>copy / paste</a:t>
            </a:r>
            <a:endParaRPr lang="en-US" sz="3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Добавяне на картинките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98408" y="1447800"/>
            <a:ext cx="7678222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36112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 smtClean="0"/>
              <a:t>Стартирайте приложението с </a:t>
            </a:r>
            <a:r>
              <a:rPr lang="en-US" dirty="0" smtClean="0">
                <a:solidFill>
                  <a:schemeClr val="tx2">
                    <a:lumMod val="75000"/>
                  </a:schemeClr>
                </a:solidFill>
              </a:rPr>
              <a:t>[Ctrl+F5]</a:t>
            </a:r>
            <a:r>
              <a:rPr lang="bg-BG" dirty="0" smtClean="0"/>
              <a:t> и го тествайте: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Стартиране и тестване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132011" y="2057400"/>
            <a:ext cx="7924802" cy="4196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8659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912813" y="5708660"/>
            <a:ext cx="10363200" cy="719034"/>
          </a:xfrm>
        </p:spPr>
        <p:txBody>
          <a:bodyPr/>
          <a:lstStyle/>
          <a:p>
            <a:r>
              <a:rPr lang="bg-BG" dirty="0"/>
              <a:t>Работа на живо в клас (</a:t>
            </a:r>
            <a:r>
              <a:rPr lang="bg-BG" noProof="1"/>
              <a:t>лаб</a:t>
            </a:r>
            <a:r>
              <a:rPr lang="bg-BG" dirty="0"/>
              <a:t>)</a:t>
            </a:r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912813" y="4885022"/>
            <a:ext cx="10363200" cy="820600"/>
          </a:xfrm>
        </p:spPr>
        <p:txBody>
          <a:bodyPr/>
          <a:lstStyle/>
          <a:p>
            <a:r>
              <a:rPr lang="bg-BG" dirty="0" smtClean="0"/>
              <a:t>Чертане на рейтинги в уеб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17814" y="1025830"/>
            <a:ext cx="6553198" cy="346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8700300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90413" y="1012208"/>
            <a:ext cx="11804822" cy="55703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 smtClean="0"/>
              <a:t>Можем да чертаем фигури с</a:t>
            </a:r>
            <a:r>
              <a:rPr lang="en-US" sz="3200" dirty="0" smtClean="0"/>
              <a:t> </a:t>
            </a:r>
            <a:r>
              <a:rPr lang="bg-BG" sz="3200" dirty="0" smtClean="0"/>
              <a:t>вложени </a:t>
            </a:r>
            <a:r>
              <a:rPr lang="en-US" sz="3200" b="1" dirty="0" smtClean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for</a:t>
            </a:r>
            <a:r>
              <a:rPr lang="en-US" sz="3200" dirty="0" smtClean="0"/>
              <a:t>-</a:t>
            </a:r>
            <a:r>
              <a:rPr lang="bg-BG" sz="3200" dirty="0" smtClean="0"/>
              <a:t>цикли:</a:t>
            </a:r>
            <a:endParaRPr lang="en-US" sz="3200" b="1" dirty="0">
              <a:solidFill>
                <a:schemeClr val="tx2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Какво научихме днес?</a:t>
            </a:r>
            <a:endParaRPr lang="en-US" dirty="0"/>
          </a:p>
        </p:txBody>
      </p:sp>
      <p:pic>
        <p:nvPicPr>
          <p:cNvPr id="7" name="Picture 2" descr="C:\Users\Ivan\Desktop\elements_presentations\summary_pic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091349" y="3106618"/>
            <a:ext cx="3413263" cy="2532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760412" y="1897082"/>
            <a:ext cx="6885636" cy="424238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&lt;=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r++)</a:t>
            </a:r>
            <a:endParaRPr lang="en-US" sz="3000" b="1" noProof="1">
              <a:solidFill>
                <a:srgbClr val="FBEED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Console.Write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*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</a:t>
            </a:r>
            <a:r>
              <a:rPr lang="en-US" sz="3000" b="1" noProof="1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for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(var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=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</a:t>
            </a: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c 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 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5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; c++)</a:t>
            </a: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   Console.Write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("</a:t>
            </a:r>
            <a:r>
              <a:rPr lang="en-US" sz="3000" b="1" noProof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*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");</a:t>
            </a: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  Console.WriteLine</a:t>
            </a: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();</a:t>
            </a:r>
          </a:p>
          <a:p>
            <a:pPr eaLnBrk="0" hangingPunct="0">
              <a:lnSpc>
                <a:spcPct val="13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noProof="1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01804" y="2104237"/>
            <a:ext cx="1926608" cy="1427116"/>
          </a:xfrm>
          <a:prstGeom prst="rect">
            <a:avLst/>
          </a:prstGeom>
        </p:spPr>
      </p:pic>
      <p:pic>
        <p:nvPicPr>
          <p:cNvPr id="11" name="Picture 2" descr="https://cdn4.iconfinder.com/data/icons/STROKE/text/png/400/color_fill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rot="493243" flipH="1">
            <a:off x="7983545" y="1793075"/>
            <a:ext cx="1688659" cy="1581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588332" y="4547316"/>
            <a:ext cx="1816764" cy="1829293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xmlns="" val="2299952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Чертане с цикли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529384" y="6400802"/>
            <a:ext cx="10482604" cy="351754"/>
          </a:xfrm>
        </p:spPr>
        <p:txBody>
          <a:bodyPr/>
          <a:lstStyle/>
          <a:p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://softuni.bg/courses/programming-basics</a:t>
            </a:r>
            <a:r>
              <a:rPr lang="en-US" dirty="0" smtClean="0">
                <a:hlinkClick r:id="rId3"/>
              </a:rPr>
              <a:t>/</a:t>
            </a:r>
            <a:endParaRPr lang="en-US" dirty="0"/>
          </a:p>
        </p:txBody>
      </p:sp>
      <p:pic>
        <p:nvPicPr>
          <p:cNvPr id="14" name="Picture 13">
            <a:hlinkClick r:id="rId4"/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980612" y="2729472"/>
            <a:ext cx="1726158" cy="932887"/>
          </a:xfrm>
          <a:prstGeom prst="roundRect">
            <a:avLst>
              <a:gd name="adj" fmla="val 2953"/>
            </a:avLst>
          </a:prstGeom>
        </p:spPr>
      </p:pic>
      <p:pic>
        <p:nvPicPr>
          <p:cNvPr id="15" name="Picture 14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2764" y="1295401"/>
            <a:ext cx="1752600" cy="804224"/>
          </a:xfrm>
          <a:prstGeom prst="roundRect">
            <a:avLst>
              <a:gd name="adj" fmla="val 3159"/>
            </a:avLst>
          </a:prstGeom>
        </p:spPr>
      </p:pic>
      <p:pic>
        <p:nvPicPr>
          <p:cNvPr id="17" name="Picture 16">
            <a:hlinkClick r:id="rId8"/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468146" y="1295400"/>
            <a:ext cx="2040956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19" name="Picture 18">
            <a:hlinkClick r:id="rId10"/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824428" y="1295400"/>
            <a:ext cx="2093874" cy="804013"/>
          </a:xfrm>
          <a:prstGeom prst="roundRect">
            <a:avLst>
              <a:gd name="adj" fmla="val 3159"/>
            </a:avLst>
          </a:prstGeom>
        </p:spPr>
      </p:pic>
      <p:pic>
        <p:nvPicPr>
          <p:cNvPr id="20" name="Picture 19">
            <a:hlinkClick r:id="rId12"/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12764" y="5373443"/>
            <a:ext cx="3352800" cy="849557"/>
          </a:xfrm>
          <a:prstGeom prst="roundRect">
            <a:avLst>
              <a:gd name="adj" fmla="val 3159"/>
            </a:avLst>
          </a:prstGeom>
        </p:spPr>
      </p:pic>
      <p:pic>
        <p:nvPicPr>
          <p:cNvPr id="22" name="Picture 21">
            <a:hlinkClick r:id="rId14"/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4358563" y="5373443"/>
            <a:ext cx="2753589" cy="849556"/>
          </a:xfrm>
          <a:prstGeom prst="roundRect">
            <a:avLst>
              <a:gd name="adj" fmla="val 2953"/>
            </a:avLst>
          </a:prstGeom>
        </p:spPr>
      </p:pic>
      <p:pic>
        <p:nvPicPr>
          <p:cNvPr id="23" name="Picture 22">
            <a:hlinkClick r:id="rId16"/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633728" y="5373443"/>
            <a:ext cx="4073042" cy="849556"/>
          </a:xfrm>
          <a:prstGeom prst="roundRect">
            <a:avLst>
              <a:gd name="adj" fmla="val 3159"/>
            </a:avLst>
          </a:prstGeom>
        </p:spPr>
      </p:pic>
      <p:pic>
        <p:nvPicPr>
          <p:cNvPr id="24" name="Picture 23">
            <a:hlinkClick r:id="rId18"/>
          </p:cNvPr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8075612" y="1316222"/>
            <a:ext cx="3631158" cy="783191"/>
          </a:xfrm>
          <a:prstGeom prst="roundRect">
            <a:avLst>
              <a:gd name="adj" fmla="val 3159"/>
            </a:avLst>
          </a:prstGeom>
        </p:spPr>
      </p:pic>
      <p:pic>
        <p:nvPicPr>
          <p:cNvPr id="25" name="Picture 24">
            <a:hlinkClick r:id="rId20"/>
          </p:cNvPr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713413" y="4251041"/>
            <a:ext cx="5993358" cy="550371"/>
          </a:xfrm>
          <a:prstGeom prst="roundRect">
            <a:avLst>
              <a:gd name="adj" fmla="val 3159"/>
            </a:avLst>
          </a:prstGeom>
        </p:spPr>
      </p:pic>
    </p:spTree>
    <p:extLst>
      <p:ext uri="{BB962C8B-B14F-4D97-AF65-F5344CB8AC3E}">
        <p14:creationId xmlns:p14="http://schemas.microsoft.com/office/powerpoint/2010/main" xmlns="" val="987552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014DD1E-5D91-48A3-AD6D-45FBA980D106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3" y="1151121"/>
            <a:ext cx="11804822" cy="5570355"/>
          </a:xfrm>
        </p:spPr>
        <p:txBody>
          <a:bodyPr>
            <a:normAutofit/>
          </a:bodyPr>
          <a:lstStyle/>
          <a:p>
            <a:r>
              <a:rPr lang="bg-BG" dirty="0" smtClean="0"/>
              <a:t>Настоящият курс </a:t>
            </a:r>
            <a:r>
              <a:rPr lang="en-US" dirty="0" smtClean="0"/>
              <a:t>(</a:t>
            </a:r>
            <a:r>
              <a:rPr lang="bg-BG" dirty="0" smtClean="0"/>
              <a:t>слайдове</a:t>
            </a:r>
            <a:r>
              <a:rPr lang="en-US" dirty="0" smtClean="0"/>
              <a:t>, </a:t>
            </a:r>
            <a:r>
              <a:rPr lang="bg-BG" dirty="0" smtClean="0"/>
              <a:t>примери</a:t>
            </a:r>
            <a:r>
              <a:rPr lang="en-US" dirty="0" smtClean="0"/>
              <a:t>, </a:t>
            </a:r>
            <a:r>
              <a:rPr lang="bg-BG" dirty="0" smtClean="0"/>
              <a:t>видео</a:t>
            </a:r>
            <a:r>
              <a:rPr lang="en-US" dirty="0" smtClean="0"/>
              <a:t>, </a:t>
            </a:r>
            <a:r>
              <a:rPr lang="bg-BG" dirty="0" smtClean="0"/>
              <a:t>задачи и др.</a:t>
            </a:r>
            <a:r>
              <a:rPr lang="en-US" dirty="0" smtClean="0"/>
              <a:t>)</a:t>
            </a:r>
            <a:r>
              <a:rPr lang="bg-BG" dirty="0" smtClean="0"/>
              <a:t> се разпространяват под свободен лиценз </a:t>
            </a:r>
            <a:r>
              <a:rPr lang="en-US" dirty="0" smtClean="0"/>
              <a:t>"</a:t>
            </a:r>
            <a:r>
              <a:rPr lang="en-US" dirty="0" smtClean="0">
                <a:hlinkClick r:id="rId3"/>
              </a:rPr>
              <a:t>Creative </a:t>
            </a:r>
            <a:r>
              <a:rPr lang="en-US" dirty="0">
                <a:hlinkClick r:id="rId3"/>
              </a:rPr>
              <a:t>Commons </a:t>
            </a:r>
            <a:r>
              <a:rPr lang="en-US" noProof="1" smtClean="0">
                <a:hlinkClick r:id="rId3"/>
              </a:rPr>
              <a:t>Attribution-NonCommercial-ShareAlike</a:t>
            </a:r>
            <a:r>
              <a:rPr lang="en-US" dirty="0" smtClean="0">
                <a:hlinkClick r:id="rId3"/>
              </a:rPr>
              <a:t> </a:t>
            </a:r>
            <a:r>
              <a:rPr lang="en-US" dirty="0">
                <a:hlinkClick r:id="rId3"/>
              </a:rPr>
              <a:t>4.0 </a:t>
            </a:r>
            <a:r>
              <a:rPr lang="en-US" dirty="0" smtClean="0">
                <a:hlinkClick r:id="rId3"/>
              </a:rPr>
              <a:t>International</a:t>
            </a:r>
            <a:r>
              <a:rPr lang="en-US" dirty="0" smtClean="0"/>
              <a:t>"</a:t>
            </a:r>
            <a:endParaRPr lang="bg-BG" dirty="0" smtClean="0"/>
          </a:p>
          <a:p>
            <a:endParaRPr lang="bg-BG" sz="2400" dirty="0"/>
          </a:p>
          <a:p>
            <a:endParaRPr lang="bg-BG" sz="2400" dirty="0" smtClean="0"/>
          </a:p>
          <a:p>
            <a:endParaRPr lang="bg-BG" sz="2400" dirty="0" smtClean="0"/>
          </a:p>
          <a:p>
            <a:endParaRPr lang="bg-BG" sz="2400" dirty="0"/>
          </a:p>
          <a:p>
            <a:pPr>
              <a:spcBef>
                <a:spcPts val="1800"/>
              </a:spcBef>
            </a:pPr>
            <a:r>
              <a:rPr lang="bg-BG" sz="2400" dirty="0" smtClean="0"/>
              <a:t>Благодарности</a:t>
            </a:r>
            <a:r>
              <a:rPr lang="en-US" sz="2400" dirty="0" smtClean="0"/>
              <a:t>: </a:t>
            </a:r>
            <a:r>
              <a:rPr lang="bg-BG" sz="2400" dirty="0" smtClean="0"/>
              <a:t>настоящият материал може да съдържа части от следните източници</a:t>
            </a:r>
            <a:endParaRPr lang="en-US" sz="2400" dirty="0" smtClean="0"/>
          </a:p>
          <a:p>
            <a:pPr lvl="1"/>
            <a:r>
              <a:rPr lang="bg-BG" sz="2000" dirty="0" smtClean="0"/>
              <a:t>Книга </a:t>
            </a:r>
            <a:r>
              <a:rPr lang="en-US" sz="2000" dirty="0" smtClean="0"/>
              <a:t>"</a:t>
            </a:r>
            <a:r>
              <a:rPr lang="bg-BG" sz="2000" dirty="0" smtClean="0">
                <a:hlinkClick r:id="rId4"/>
              </a:rPr>
              <a:t>Основи на програмирането със </a:t>
            </a:r>
            <a:r>
              <a:rPr lang="en-US" sz="2000" dirty="0" smtClean="0">
                <a:hlinkClick r:id="rId4"/>
              </a:rPr>
              <a:t>C#"</a:t>
            </a:r>
            <a:r>
              <a:rPr lang="bg-BG" sz="2000" dirty="0" smtClean="0"/>
              <a:t> от Светлин Наков и колектив с лиценз</a:t>
            </a:r>
            <a:r>
              <a:rPr lang="en-US" sz="2000" dirty="0" smtClean="0"/>
              <a:t> </a:t>
            </a:r>
            <a:r>
              <a:rPr lang="en-US" sz="2000" dirty="0" smtClean="0">
                <a:hlinkClick r:id="rId5"/>
              </a:rPr>
              <a:t>CC-BY-SA</a:t>
            </a:r>
            <a:endParaRPr lang="bg-BG" sz="2000" dirty="0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 smtClean="0"/>
              <a:t>Лиценз</a:t>
            </a:r>
            <a:endParaRPr lang="en-US" dirty="0"/>
          </a:p>
        </p:txBody>
      </p:sp>
      <p:pic>
        <p:nvPicPr>
          <p:cNvPr id="8" name="Picture 4">
            <a:hlinkClick r:id="rId3" tooltip="This work is licensed under the &quot;Creative Commons Attribution-NonCommercial-ShareAlike 4.0 International&quot; license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4507637" y="3517212"/>
            <a:ext cx="3170776" cy="1109380"/>
          </a:xfrm>
          <a:prstGeom prst="roundRect">
            <a:avLst>
              <a:gd name="adj" fmla="val 4326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975485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idx="4294967295"/>
          </p:nvPr>
        </p:nvSpPr>
        <p:spPr>
          <a:xfrm>
            <a:off x="204426" y="103188"/>
            <a:ext cx="8869723" cy="936625"/>
          </a:xfrm>
        </p:spPr>
        <p:txBody>
          <a:bodyPr>
            <a:normAutofit/>
          </a:bodyPr>
          <a:lstStyle/>
          <a:p>
            <a:r>
              <a:rPr lang="bg-BG" dirty="0" smtClean="0"/>
              <a:t>Безплатни обучения в </a:t>
            </a:r>
            <a:r>
              <a:rPr lang="bg-BG" noProof="1" smtClean="0"/>
              <a:t>СофтУни</a:t>
            </a:r>
            <a:endParaRPr lang="bg-BG" noProof="1"/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227012" y="1039813"/>
            <a:ext cx="9429532" cy="56388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bg-BG" sz="3200" dirty="0" smtClean="0"/>
              <a:t>Фондация "Софтуерен университет" </a:t>
            </a:r>
            <a:r>
              <a:rPr lang="en-US" sz="3200" dirty="0" smtClean="0"/>
              <a:t>– </a:t>
            </a:r>
            <a:r>
              <a:rPr lang="en-US" sz="3200" noProof="1" smtClean="0">
                <a:hlinkClick r:id="rId3"/>
              </a:rPr>
              <a:t>softuni.org</a:t>
            </a:r>
            <a:endParaRPr lang="en-US" sz="3200" noProof="1" smtClean="0"/>
          </a:p>
          <a:p>
            <a:pPr>
              <a:lnSpc>
                <a:spcPct val="100000"/>
              </a:lnSpc>
            </a:pPr>
            <a:r>
              <a:rPr lang="bg-BG" sz="3200" dirty="0" smtClean="0"/>
              <a:t>Софтуерен университет </a:t>
            </a:r>
            <a:r>
              <a:rPr lang="en-US" sz="3200" dirty="0" smtClean="0"/>
              <a:t>– </a:t>
            </a:r>
            <a:r>
              <a:rPr lang="bg-BG" sz="3200" dirty="0" smtClean="0"/>
              <a:t>качествено образование, професия и работа за софтуерни инженери</a:t>
            </a:r>
            <a:endParaRPr lang="en-US" sz="3200" dirty="0"/>
          </a:p>
          <a:p>
            <a:pPr lvl="1">
              <a:lnSpc>
                <a:spcPct val="100000"/>
              </a:lnSpc>
            </a:pPr>
            <a:r>
              <a:rPr lang="en-US" sz="2900" noProof="1">
                <a:hlinkClick r:id="rId4"/>
              </a:rPr>
              <a:t>softuni.bg</a:t>
            </a:r>
            <a:r>
              <a:rPr lang="en-US" sz="2900" noProof="1"/>
              <a:t> </a:t>
            </a:r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</a:t>
            </a:r>
            <a:r>
              <a:rPr lang="bg-BG" dirty="0" smtClean="0"/>
              <a:t> </a:t>
            </a:r>
            <a:r>
              <a:rPr lang="en-US" dirty="0" smtClean="0"/>
              <a:t>@ Facebook</a:t>
            </a:r>
          </a:p>
          <a:p>
            <a:pPr lvl="1">
              <a:lnSpc>
                <a:spcPct val="100000"/>
              </a:lnSpc>
              <a:tabLst>
                <a:tab pos="282575" algn="l"/>
              </a:tabLst>
            </a:pPr>
            <a:r>
              <a:rPr lang="en-US" sz="2900" noProof="1">
                <a:hlinkClick r:id="rId5"/>
              </a:rPr>
              <a:t>facebook.com/SoftwareUniversity</a:t>
            </a:r>
            <a:endParaRPr lang="en-US" sz="2900" noProof="1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endParaRPr lang="bg-BG" noProof="1" smtClean="0"/>
          </a:p>
          <a:p>
            <a:pPr marL="304747" lvl="1" indent="-304747">
              <a:lnSpc>
                <a:spcPct val="100000"/>
              </a:lnSpc>
              <a:buClr>
                <a:srgbClr val="F2B254"/>
              </a:buClr>
              <a:buSzPct val="100000"/>
              <a:tabLst>
                <a:tab pos="282575" algn="l"/>
              </a:tabLst>
            </a:pPr>
            <a:r>
              <a:rPr lang="bg-BG" noProof="1" smtClean="0"/>
              <a:t>СофтУни форуми</a:t>
            </a:r>
            <a:r>
              <a:rPr lang="en-US" noProof="1" smtClean="0"/>
              <a:t> – </a:t>
            </a:r>
            <a:r>
              <a:rPr lang="en-US" dirty="0">
                <a:hlinkClick r:id="rId6"/>
              </a:rPr>
              <a:t>forum.softuni.bg</a:t>
            </a:r>
            <a:endParaRPr lang="en-US" noProof="1"/>
          </a:p>
        </p:txBody>
      </p:sp>
      <p:pic>
        <p:nvPicPr>
          <p:cNvPr id="10" name="Picture 9">
            <a:hlinkClick r:id="rId3" tooltip="Software University Foundation"/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-5359" t="-15226" r="-5359" b="-15226"/>
          <a:stretch/>
        </p:blipFill>
        <p:spPr>
          <a:xfrm>
            <a:off x="9510966" y="466964"/>
            <a:ext cx="2269870" cy="874916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solidFill>
              <a:schemeClr val="accent1">
                <a:lumMod val="75000"/>
                <a:alpha val="40000"/>
              </a:schemeClr>
            </a:solidFill>
          </a:ln>
        </p:spPr>
      </p:pic>
      <p:pic>
        <p:nvPicPr>
          <p:cNvPr id="11" name="Picture 4">
            <a:hlinkClick r:id="rId8"/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/>
        </p:blipFill>
        <p:spPr bwMode="auto">
          <a:xfrm>
            <a:off x="10129404" y="3385124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hlinkClick r:id="rId10"/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63202" y="4977874"/>
            <a:ext cx="970156" cy="965726"/>
          </a:xfrm>
          <a:prstGeom prst="rect">
            <a:avLst/>
          </a:prstGeom>
        </p:spPr>
      </p:pic>
      <p:pic>
        <p:nvPicPr>
          <p:cNvPr id="14" name="Picture 13" descr="http://softuni.bg">
            <a:hlinkClick r:id="rId12" tooltip="Software University"/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268" y="1566110"/>
            <a:ext cx="1701050" cy="1570200"/>
          </a:xfrm>
          <a:prstGeom prst="rect">
            <a:avLst/>
          </a:prstGeom>
          <a:ln w="12700">
            <a:solidFill>
              <a:srgbClr val="55438F">
                <a:alpha val="70000"/>
              </a:srgbClr>
            </a:solidFill>
          </a:ln>
        </p:spPr>
      </p:pic>
      <p:pic>
        <p:nvPicPr>
          <p:cNvPr id="9" name="Picture 8">
            <a:hlinkClick r:id="rId4"/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932612" y="3213098"/>
            <a:ext cx="2286198" cy="24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392763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Uni 16x9">
  <a:themeElements>
    <a:clrScheme name="SoftUni Color Them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F6C781"/>
      </a:hlink>
      <a:folHlink>
        <a:srgbClr val="F2AC44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Software-University-Foundation</Template>
  <TotalTime>0</TotalTime>
  <Words>1934</Words>
  <Application>Microsoft Office PowerPoint</Application>
  <PresentationFormat>Custom</PresentationFormat>
  <Paragraphs>426</Paragraphs>
  <Slides>35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SoftUni 16x9</vt:lpstr>
      <vt:lpstr>Чертане с цикли</vt:lpstr>
      <vt:lpstr>Съдържание</vt:lpstr>
      <vt:lpstr>Чертане на прости фигури</vt:lpstr>
      <vt:lpstr>Правоъгълник от 10 x 10 звездички</vt:lpstr>
      <vt:lpstr>Правоъгълник от N x N звездички</vt:lpstr>
      <vt:lpstr>Вложени цикли</vt:lpstr>
      <vt:lpstr>Квадрат от звездички</vt:lpstr>
      <vt:lpstr>Триъгълник от долари</vt:lpstr>
      <vt:lpstr>Квадратна рамка</vt:lpstr>
      <vt:lpstr>Ромбче от звездички</vt:lpstr>
      <vt:lpstr>Коледна елха</vt:lpstr>
      <vt:lpstr>Коледна елха – решение</vt:lpstr>
      <vt:lpstr>Чертане на прости фигури</vt:lpstr>
      <vt:lpstr>Чертане на по-сложни фигури</vt:lpstr>
      <vt:lpstr>Слънчеви очила</vt:lpstr>
      <vt:lpstr>Слънчеви очила – решение</vt:lpstr>
      <vt:lpstr>Слънчеви очила – решение (2)</vt:lpstr>
      <vt:lpstr>Къщичка</vt:lpstr>
      <vt:lpstr>Къщичка – решение</vt:lpstr>
      <vt:lpstr>Диамант</vt:lpstr>
      <vt:lpstr>Диамант – решение</vt:lpstr>
      <vt:lpstr>Чертане на по-сложни фигури</vt:lpstr>
      <vt:lpstr>Чертане на обекти в уеб среда</vt:lpstr>
      <vt:lpstr>Визуализация на рейтинг в уеб среда</vt:lpstr>
      <vt:lpstr>Създаване на уеб приложение</vt:lpstr>
      <vt:lpstr>Избор на тип уеб приложение: MVC</vt:lpstr>
      <vt:lpstr>Създаване на изглед (view)</vt:lpstr>
      <vt:lpstr>Създаване на действие (action)</vt:lpstr>
      <vt:lpstr>Добавяне на картинките</vt:lpstr>
      <vt:lpstr>Стартиране и тестване</vt:lpstr>
      <vt:lpstr>Чертане на рейтинги в уеб</vt:lpstr>
      <vt:lpstr>Какво научихме днес?</vt:lpstr>
      <vt:lpstr>Чертане с цикли</vt:lpstr>
      <vt:lpstr>Лиценз</vt:lpstr>
      <vt:lpstr>Безплатни обучения в СофтУни</vt:lpstr>
    </vt:vector>
  </TitlesOfParts>
  <Manager/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Чертане с цикли</dc:title>
  <dc:subject>Coding 101 Course</dc:subject>
  <dc:creator/>
  <cp:keywords>Sofware University, SoftUni, programming, coding, software development, education, training, course, курс, програмиране, кодене, кодиране, СофтУни</cp:keywords>
  <dc:description>https://softuni.bg/courses/programming-basics/</dc:description>
  <cp:lastModifiedBy/>
  <cp:revision>1</cp:revision>
  <dcterms:created xsi:type="dcterms:W3CDTF">2014-01-02T17:00:34Z</dcterms:created>
  <dcterms:modified xsi:type="dcterms:W3CDTF">2017-03-14T20:29:38Z</dcterms:modified>
  <cp:category>computer programming;programming;C#;програмиране;кодиране</cp:category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TC027879909991</vt:lpwstr>
  </property>
</Properties>
</file>